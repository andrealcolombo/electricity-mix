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6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7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Generation 2021, Jan–Aug (GWh)</c:v>
                </c:pt>
              </c:strCache>
            </c:strRef>
          </c:tx>
          <c:dPt>
            <c:idx val="0"/>
            <c:spPr>
              <a:solidFill>
                <a:srgbClr val="EDA100"/>
              </a:solidFill>
              <a:ln w="1587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1BAF7A"/>
              </a:solidFill>
              <a:ln w="1587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2A78D6"/>
              </a:solidFill>
              <a:ln w="1587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008300"/>
              </a:solidFill>
              <a:ln w="1587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EB6834"/>
              </a:solidFill>
              <a:ln w="1587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8A8F98"/>
              </a:solidFill>
              <a:ln w="15875">
                <a:solidFill>
                  <a:srgbClr val="FFFFFF"/>
                </a:solidFill>
              </a:ln>
            </c:spPr>
          </c:dPt>
          <c:dLbls>
            <c:dLbl>
              <c:idx val="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13%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66%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14%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Solar</c:v>
                </c:pt>
                <c:pt idx="1">
                  <c:v>Wind</c:v>
                </c:pt>
                <c:pt idx="2">
                  <c:v>Hydro</c:v>
                </c:pt>
                <c:pt idx="3">
                  <c:v>Biomass</c:v>
                </c:pt>
                <c:pt idx="4">
                  <c:v>Gas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658.6</c:v>
                </c:pt>
                <c:pt idx="1">
                  <c:v>4586.2</c:v>
                </c:pt>
                <c:pt idx="2">
                  <c:v>23551.1</c:v>
                </c:pt>
                <c:pt idx="3">
                  <c:v>994.4</c:v>
                </c:pt>
                <c:pt idx="4">
                  <c:v>5043.8</c:v>
                </c:pt>
                <c:pt idx="5">
                  <c:v>711.4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Generation 2026, Jan–Aug (GWh)</c:v>
                </c:pt>
              </c:strCache>
            </c:strRef>
          </c:tx>
          <c:dPt>
            <c:idx val="0"/>
            <c:spPr>
              <a:solidFill>
                <a:srgbClr val="EDA100"/>
              </a:solidFill>
              <a:ln w="1587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1BAF7A"/>
              </a:solidFill>
              <a:ln w="1587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2A78D6"/>
              </a:solidFill>
              <a:ln w="1587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008300"/>
              </a:solidFill>
              <a:ln w="1587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EB6834"/>
              </a:solidFill>
              <a:ln w="1587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8A8F98"/>
              </a:solidFill>
              <a:ln w="15875">
                <a:solidFill>
                  <a:srgbClr val="FFFFFF"/>
                </a:solidFill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16%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17%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48%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13%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Solar</c:v>
                </c:pt>
                <c:pt idx="1">
                  <c:v>Wind</c:v>
                </c:pt>
                <c:pt idx="2">
                  <c:v>Hydro</c:v>
                </c:pt>
                <c:pt idx="3">
                  <c:v>Biomass</c:v>
                </c:pt>
                <c:pt idx="4">
                  <c:v>Gas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5326.2</c:v>
                </c:pt>
                <c:pt idx="1">
                  <c:v>5763.1</c:v>
                </c:pt>
                <c:pt idx="2">
                  <c:v>15910.3</c:v>
                </c:pt>
                <c:pt idx="3">
                  <c:v>1195.0</c:v>
                </c:pt>
                <c:pt idx="4">
                  <c:v>4235.6</c:v>
                </c:pt>
                <c:pt idx="5">
                  <c:v>711.4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Generation 2021, Jan–Aug (GWh)</c:v>
                </c:pt>
              </c:strCache>
            </c:strRef>
          </c:tx>
          <c:dPt>
            <c:idx val="0"/>
            <c:spPr>
              <a:solidFill>
                <a:srgbClr val="EDA100"/>
              </a:solidFill>
              <a:ln w="1587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1BAF7A"/>
              </a:solidFill>
              <a:ln w="1587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2A78D6"/>
              </a:solidFill>
              <a:ln w="1587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008300"/>
              </a:solidFill>
              <a:ln w="1587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8E5AC8"/>
              </a:solidFill>
              <a:ln w="1587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EB6834"/>
              </a:solidFill>
              <a:ln w="15875"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4D4D4D"/>
              </a:solidFill>
              <a:ln w="15875">
                <a:solidFill>
                  <a:srgbClr val="FFFFFF"/>
                </a:solidFill>
              </a:ln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13%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38%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6%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37%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Solar</c:v>
                </c:pt>
                <c:pt idx="1">
                  <c:v>Wind</c:v>
                </c:pt>
                <c:pt idx="2">
                  <c:v>Hydro</c:v>
                </c:pt>
                <c:pt idx="3">
                  <c:v>Biomass</c:v>
                </c:pt>
                <c:pt idx="4">
                  <c:v>Nuclear</c:v>
                </c:pt>
                <c:pt idx="5">
                  <c:v>Gas</c:v>
                </c:pt>
                <c:pt idx="6">
                  <c:v>Coal and lignite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1082.6</c:v>
                </c:pt>
                <c:pt idx="1">
                  <c:v>858.4</c:v>
                </c:pt>
                <c:pt idx="2">
                  <c:v>3727.4</c:v>
                </c:pt>
                <c:pt idx="3">
                  <c:v>167.9</c:v>
                </c:pt>
                <c:pt idx="4">
                  <c:v>11087.2</c:v>
                </c:pt>
                <c:pt idx="5">
                  <c:v>1650.0</c:v>
                </c:pt>
                <c:pt idx="6">
                  <c:v>10739.6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Generation 2026, Jan–Aug (GWh)</c:v>
                </c:pt>
              </c:strCache>
            </c:strRef>
          </c:tx>
          <c:dPt>
            <c:idx val="0"/>
            <c:spPr>
              <a:solidFill>
                <a:srgbClr val="EDA100"/>
              </a:solidFill>
              <a:ln w="1587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1BAF7A"/>
              </a:solidFill>
              <a:ln w="1587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2A78D6"/>
              </a:solidFill>
              <a:ln w="1587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008300"/>
              </a:solidFill>
              <a:ln w="1587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8E5AC8"/>
              </a:solidFill>
              <a:ln w="1587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EB6834"/>
              </a:solidFill>
              <a:ln w="15875"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4D4D4D"/>
              </a:solidFill>
              <a:ln w="15875">
                <a:solidFill>
                  <a:srgbClr val="FFFFFF"/>
                </a:solidFill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21%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13%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38%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20%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Solar</c:v>
                </c:pt>
                <c:pt idx="1">
                  <c:v>Wind</c:v>
                </c:pt>
                <c:pt idx="2">
                  <c:v>Hydro</c:v>
                </c:pt>
                <c:pt idx="3">
                  <c:v>Biomass</c:v>
                </c:pt>
                <c:pt idx="4">
                  <c:v>Nuclear</c:v>
                </c:pt>
                <c:pt idx="5">
                  <c:v>Gas</c:v>
                </c:pt>
                <c:pt idx="6">
                  <c:v>Coal and lignite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5641.0</c:v>
                </c:pt>
                <c:pt idx="1">
                  <c:v>833.0</c:v>
                </c:pt>
                <c:pt idx="2">
                  <c:v>3347.0</c:v>
                </c:pt>
                <c:pt idx="3">
                  <c:v>76.4</c:v>
                </c:pt>
                <c:pt idx="4">
                  <c:v>10010.0</c:v>
                </c:pt>
                <c:pt idx="5">
                  <c:v>1309.7</c:v>
                </c:pt>
                <c:pt idx="6">
                  <c:v>5372.1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Generation 2021, Jan–Aug (GWh)</c:v>
                </c:pt>
              </c:strCache>
            </c:strRef>
          </c:tx>
          <c:dPt>
            <c:idx val="0"/>
            <c:spPr>
              <a:solidFill>
                <a:srgbClr val="EDA100"/>
              </a:solidFill>
              <a:ln w="1587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1BAF7A"/>
              </a:solidFill>
              <a:ln w="1587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2A78D6"/>
              </a:solidFill>
              <a:ln w="1587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008300"/>
              </a:solidFill>
              <a:ln w="1587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7FB77E"/>
              </a:solidFill>
              <a:ln w="1587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8E5AC8"/>
              </a:solidFill>
              <a:ln w="15875"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EB6834"/>
              </a:solidFill>
              <a:ln w="15875">
                <a:solidFill>
                  <a:srgbClr val="FFFFFF"/>
                </a:solidFill>
              </a:ln>
            </c:spPr>
          </c:dPt>
          <c:dPt>
            <c:idx val="7"/>
            <c:spPr>
              <a:solidFill>
                <a:srgbClr val="4D4D4D"/>
              </a:solidFill>
              <a:ln w="15875">
                <a:solidFill>
                  <a:srgbClr val="FFFFFF"/>
                </a:solidFill>
              </a:ln>
            </c:spPr>
          </c:dPt>
          <c:dPt>
            <c:idx val="8"/>
            <c:spPr>
              <a:solidFill>
                <a:srgbClr val="8A8F98"/>
              </a:solidFill>
              <a:ln w="15875">
                <a:solidFill>
                  <a:srgbClr val="FFFFFF"/>
                </a:solidFill>
              </a:ln>
            </c:spPr>
          </c:dPt>
          <c:dLbls>
            <c:dLbl>
              <c:idx val="5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37%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8%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40%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Solar</c:v>
                </c:pt>
                <c:pt idx="1">
                  <c:v>Wind</c:v>
                </c:pt>
                <c:pt idx="2">
                  <c:v>Hydro</c:v>
                </c:pt>
                <c:pt idx="3">
                  <c:v>Biomass</c:v>
                </c:pt>
                <c:pt idx="4">
                  <c:v>Other renewables</c:v>
                </c:pt>
                <c:pt idx="5">
                  <c:v>Nuclear</c:v>
                </c:pt>
                <c:pt idx="6">
                  <c:v>Gas</c:v>
                </c:pt>
                <c:pt idx="7">
                  <c:v>Coal and lignite</c:v>
                </c:pt>
                <c:pt idx="8">
                  <c:v>Other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1647.4</c:v>
                </c:pt>
                <c:pt idx="1">
                  <c:v>384.0</c:v>
                </c:pt>
                <c:pt idx="2">
                  <c:v>1808.0</c:v>
                </c:pt>
                <c:pt idx="3">
                  <c:v>1712.0</c:v>
                </c:pt>
                <c:pt idx="4">
                  <c:v>1573.6</c:v>
                </c:pt>
                <c:pt idx="5">
                  <c:v>18165.7</c:v>
                </c:pt>
                <c:pt idx="6">
                  <c:v>3994.0</c:v>
                </c:pt>
                <c:pt idx="7">
                  <c:v>19943.2</c:v>
                </c:pt>
                <c:pt idx="8">
                  <c:v>251.6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Generation 2026, Jan–Aug (GWh)</c:v>
                </c:pt>
              </c:strCache>
            </c:strRef>
          </c:tx>
          <c:dPt>
            <c:idx val="0"/>
            <c:spPr>
              <a:solidFill>
                <a:srgbClr val="EDA100"/>
              </a:solidFill>
              <a:ln w="1587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1BAF7A"/>
              </a:solidFill>
              <a:ln w="1587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2A78D6"/>
              </a:solidFill>
              <a:ln w="1587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008300"/>
              </a:solidFill>
              <a:ln w="1587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7FB77E"/>
              </a:solidFill>
              <a:ln w="1587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8E5AC8"/>
              </a:solidFill>
              <a:ln w="15875"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EB6834"/>
              </a:solidFill>
              <a:ln w="15875">
                <a:solidFill>
                  <a:srgbClr val="FFFFFF"/>
                </a:solidFill>
              </a:ln>
            </c:spPr>
          </c:dPt>
          <c:dPt>
            <c:idx val="7"/>
            <c:spPr>
              <a:solidFill>
                <a:srgbClr val="4D4D4D"/>
              </a:solidFill>
              <a:ln w="15875">
                <a:solidFill>
                  <a:srgbClr val="FFFFFF"/>
                </a:solidFill>
              </a:ln>
            </c:spPr>
          </c:dPt>
          <c:dPt>
            <c:idx val="8"/>
            <c:spPr>
              <a:solidFill>
                <a:srgbClr val="8A8F98"/>
              </a:solidFill>
              <a:ln w="15875">
                <a:solidFill>
                  <a:srgbClr val="FFFFFF"/>
                </a:solidFill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9%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40%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7%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34%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Solar</c:v>
                </c:pt>
                <c:pt idx="1">
                  <c:v>Wind</c:v>
                </c:pt>
                <c:pt idx="2">
                  <c:v>Hydro</c:v>
                </c:pt>
                <c:pt idx="3">
                  <c:v>Biomass</c:v>
                </c:pt>
                <c:pt idx="4">
                  <c:v>Other renewables</c:v>
                </c:pt>
                <c:pt idx="5">
                  <c:v>Nuclear</c:v>
                </c:pt>
                <c:pt idx="6">
                  <c:v>Gas</c:v>
                </c:pt>
                <c:pt idx="7">
                  <c:v>Coal and lignite</c:v>
                </c:pt>
                <c:pt idx="8">
                  <c:v>Other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4108.8</c:v>
                </c:pt>
                <c:pt idx="1">
                  <c:v>457.0</c:v>
                </c:pt>
                <c:pt idx="2">
                  <c:v>887.4</c:v>
                </c:pt>
                <c:pt idx="3">
                  <c:v>1747.3</c:v>
                </c:pt>
                <c:pt idx="4">
                  <c:v>1551.0</c:v>
                </c:pt>
                <c:pt idx="5">
                  <c:v>19460.8</c:v>
                </c:pt>
                <c:pt idx="6">
                  <c:v>3162.8</c:v>
                </c:pt>
                <c:pt idx="7">
                  <c:v>16241.7</c:v>
                </c:pt>
                <c:pt idx="8">
                  <c:v>493.7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Generation 2021, Jan–Aug (GWh)</c:v>
                </c:pt>
              </c:strCache>
            </c:strRef>
          </c:tx>
          <c:dPt>
            <c:idx val="0"/>
            <c:spPr>
              <a:solidFill>
                <a:srgbClr val="EDA100"/>
              </a:solidFill>
              <a:ln w="1587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1BAF7A"/>
              </a:solidFill>
              <a:ln w="1587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2A78D6"/>
              </a:solidFill>
              <a:ln w="1587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008300"/>
              </a:solidFill>
              <a:ln w="1587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7FB77E"/>
              </a:solidFill>
              <a:ln w="1587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8E5AC8"/>
              </a:solidFill>
              <a:ln w="15875"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EB6834"/>
              </a:solidFill>
              <a:ln w="15875">
                <a:solidFill>
                  <a:srgbClr val="FFFFFF"/>
                </a:solidFill>
              </a:ln>
            </c:spPr>
          </c:dPt>
          <c:dPt>
            <c:idx val="7"/>
            <c:spPr>
              <a:solidFill>
                <a:srgbClr val="4D4D4D"/>
              </a:solidFill>
              <a:ln w="15875">
                <a:solidFill>
                  <a:srgbClr val="FFFFFF"/>
                </a:solidFill>
              </a:ln>
            </c:spPr>
          </c:dPt>
          <c:dPt>
            <c:idx val="8"/>
            <c:spPr>
              <a:solidFill>
                <a:srgbClr val="7A4A2B"/>
              </a:solidFill>
              <a:ln w="15875">
                <a:solidFill>
                  <a:srgbClr val="FFFFFF"/>
                </a:solidFill>
              </a:ln>
            </c:spPr>
          </c:dPt>
          <c:dPt>
            <c:idx val="9"/>
            <c:spPr>
              <a:solidFill>
                <a:srgbClr val="8A8F98"/>
              </a:solidFill>
              <a:ln w="15875">
                <a:solidFill>
                  <a:srgbClr val="FFFFFF"/>
                </a:solidFill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11%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22%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8%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13%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12%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27%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Solar</c:v>
                </c:pt>
                <c:pt idx="1">
                  <c:v>Wind</c:v>
                </c:pt>
                <c:pt idx="2">
                  <c:v>Hydro</c:v>
                </c:pt>
                <c:pt idx="3">
                  <c:v>Biomass</c:v>
                </c:pt>
                <c:pt idx="4">
                  <c:v>Other renewables</c:v>
                </c:pt>
                <c:pt idx="5">
                  <c:v>Nuclear</c:v>
                </c:pt>
                <c:pt idx="6">
                  <c:v>Gas</c:v>
                </c:pt>
                <c:pt idx="7">
                  <c:v>Coal and lignite</c:v>
                </c:pt>
                <c:pt idx="8">
                  <c:v>Oil</c:v>
                </c:pt>
                <c:pt idx="9">
                  <c:v>Other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36471.3</c:v>
                </c:pt>
                <c:pt idx="1">
                  <c:v>72045.5</c:v>
                </c:pt>
                <c:pt idx="2">
                  <c:v>10975.9</c:v>
                </c:pt>
                <c:pt idx="3">
                  <c:v>25374.3</c:v>
                </c:pt>
                <c:pt idx="4">
                  <c:v>920.5</c:v>
                </c:pt>
                <c:pt idx="5">
                  <c:v>43448.5</c:v>
                </c:pt>
                <c:pt idx="6">
                  <c:v>40725.4</c:v>
                </c:pt>
                <c:pt idx="7">
                  <c:v>89059.1</c:v>
                </c:pt>
                <c:pt idx="8">
                  <c:v>2237.0</c:v>
                </c:pt>
                <c:pt idx="9">
                  <c:v>6513.1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Generation 2026, Jan–Aug (GWh)</c:v>
                </c:pt>
              </c:strCache>
            </c:strRef>
          </c:tx>
          <c:dPt>
            <c:idx val="0"/>
            <c:spPr>
              <a:solidFill>
                <a:srgbClr val="EDA100"/>
              </a:solidFill>
              <a:ln w="1587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1BAF7A"/>
              </a:solidFill>
              <a:ln w="1587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2A78D6"/>
              </a:solidFill>
              <a:ln w="1587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008300"/>
              </a:solidFill>
              <a:ln w="1587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7FB77E"/>
              </a:solidFill>
              <a:ln w="1587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8E5AC8"/>
              </a:solidFill>
              <a:ln w="15875"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EB6834"/>
              </a:solidFill>
              <a:ln w="15875">
                <a:solidFill>
                  <a:srgbClr val="FFFFFF"/>
                </a:solidFill>
              </a:ln>
            </c:spPr>
          </c:dPt>
          <c:dPt>
            <c:idx val="7"/>
            <c:spPr>
              <a:solidFill>
                <a:srgbClr val="4D4D4D"/>
              </a:solidFill>
              <a:ln w="15875">
                <a:solidFill>
                  <a:srgbClr val="FFFFFF"/>
                </a:solidFill>
              </a:ln>
            </c:spPr>
          </c:dPt>
          <c:dPt>
            <c:idx val="8"/>
            <c:spPr>
              <a:solidFill>
                <a:srgbClr val="7A4A2B"/>
              </a:solidFill>
              <a:ln w="15875">
                <a:solidFill>
                  <a:srgbClr val="FFFFFF"/>
                </a:solidFill>
              </a:ln>
            </c:spPr>
          </c:dPt>
          <c:dPt>
            <c:idx val="9"/>
            <c:spPr>
              <a:solidFill>
                <a:srgbClr val="8A8F98"/>
              </a:solidFill>
              <a:ln w="15875">
                <a:solidFill>
                  <a:srgbClr val="FFFFFF"/>
                </a:solidFill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23%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29%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8%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13%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22%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Solar</c:v>
                </c:pt>
                <c:pt idx="1">
                  <c:v>Wind</c:v>
                </c:pt>
                <c:pt idx="2">
                  <c:v>Hydro</c:v>
                </c:pt>
                <c:pt idx="3">
                  <c:v>Biomass</c:v>
                </c:pt>
                <c:pt idx="4">
                  <c:v>Other renewables</c:v>
                </c:pt>
                <c:pt idx="5">
                  <c:v>Nuclear</c:v>
                </c:pt>
                <c:pt idx="6">
                  <c:v>Gas</c:v>
                </c:pt>
                <c:pt idx="7">
                  <c:v>Coal and lignite</c:v>
                </c:pt>
                <c:pt idx="8">
                  <c:v>Oil</c:v>
                </c:pt>
                <c:pt idx="9">
                  <c:v>Other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67672.6</c:v>
                </c:pt>
                <c:pt idx="1">
                  <c:v>87007.3</c:v>
                </c:pt>
                <c:pt idx="2">
                  <c:v>8607.9</c:v>
                </c:pt>
                <c:pt idx="3">
                  <c:v>23258.3</c:v>
                </c:pt>
                <c:pt idx="4">
                  <c:v>573.8</c:v>
                </c:pt>
                <c:pt idx="5">
                  <c:v>0.0</c:v>
                </c:pt>
                <c:pt idx="6">
                  <c:v>37874.3</c:v>
                </c:pt>
                <c:pt idx="7">
                  <c:v>65898.7</c:v>
                </c:pt>
                <c:pt idx="8">
                  <c:v>1819.3</c:v>
                </c:pt>
                <c:pt idx="9">
                  <c:v>5516.5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Generation 2021, Jan–Aug (GWh)</c:v>
                </c:pt>
              </c:strCache>
            </c:strRef>
          </c:tx>
          <c:dPt>
            <c:idx val="0"/>
            <c:spPr>
              <a:solidFill>
                <a:srgbClr val="EDA100"/>
              </a:solidFill>
              <a:ln w="1587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1BAF7A"/>
              </a:solidFill>
              <a:ln w="1587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2A78D6"/>
              </a:solidFill>
              <a:ln w="1587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008300"/>
              </a:solidFill>
              <a:ln w="1587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7FB77E"/>
              </a:solidFill>
              <a:ln w="1587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EB6834"/>
              </a:solidFill>
              <a:ln w="15875"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4D4D4D"/>
              </a:solidFill>
              <a:ln w="15875">
                <a:solidFill>
                  <a:srgbClr val="FFFFFF"/>
                </a:solidFill>
              </a:ln>
            </c:spPr>
          </c:dPt>
          <c:dPt>
            <c:idx val="7"/>
            <c:spPr>
              <a:solidFill>
                <a:srgbClr val="7A4A2B"/>
              </a:solidFill>
              <a:ln w="15875">
                <a:solidFill>
                  <a:srgbClr val="FFFFFF"/>
                </a:solidFill>
              </a:ln>
            </c:spPr>
          </c:dPt>
          <c:dPt>
            <c:idx val="8"/>
            <c:spPr>
              <a:solidFill>
                <a:srgbClr val="8A8F98"/>
              </a:solidFill>
              <a:ln w="15875">
                <a:solidFill>
                  <a:srgbClr val="FFFFFF"/>
                </a:solidFill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8%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19%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44%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6%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7%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Solar</c:v>
                </c:pt>
                <c:pt idx="1">
                  <c:v>Wind</c:v>
                </c:pt>
                <c:pt idx="2">
                  <c:v>Hydro</c:v>
                </c:pt>
                <c:pt idx="3">
                  <c:v>Biomass</c:v>
                </c:pt>
                <c:pt idx="4">
                  <c:v>Other renewables</c:v>
                </c:pt>
                <c:pt idx="5">
                  <c:v>Gas</c:v>
                </c:pt>
                <c:pt idx="6">
                  <c:v>Coal and lignite</c:v>
                </c:pt>
                <c:pt idx="7">
                  <c:v>Oil</c:v>
                </c:pt>
                <c:pt idx="8">
                  <c:v>Other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15462.8</c:v>
                </c:pt>
                <c:pt idx="1">
                  <c:v>13558.6</c:v>
                </c:pt>
                <c:pt idx="2">
                  <c:v>30352.6</c:v>
                </c:pt>
                <c:pt idx="3">
                  <c:v>4020.0</c:v>
                </c:pt>
                <c:pt idx="4">
                  <c:v>3680.0</c:v>
                </c:pt>
                <c:pt idx="5">
                  <c:v>71780.9</c:v>
                </c:pt>
                <c:pt idx="6">
                  <c:v>9943.6</c:v>
                </c:pt>
                <c:pt idx="7">
                  <c:v>927.7</c:v>
                </c:pt>
                <c:pt idx="8">
                  <c:v>11896.9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Generation 2026, Jan–Aug (GWh)</c:v>
                </c:pt>
              </c:strCache>
            </c:strRef>
          </c:tx>
          <c:dPt>
            <c:idx val="0"/>
            <c:spPr>
              <a:solidFill>
                <a:srgbClr val="EDA100"/>
              </a:solidFill>
              <a:ln w="1587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1BAF7A"/>
              </a:solidFill>
              <a:ln w="1587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2A78D6"/>
              </a:solidFill>
              <a:ln w="1587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008300"/>
              </a:solidFill>
              <a:ln w="1587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7FB77E"/>
              </a:solidFill>
              <a:ln w="1587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EB6834"/>
              </a:solidFill>
              <a:ln w="15875"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4D4D4D"/>
              </a:solidFill>
              <a:ln w="15875">
                <a:solidFill>
                  <a:srgbClr val="FFFFFF"/>
                </a:solidFill>
              </a:ln>
            </c:spPr>
          </c:dPt>
          <c:dPt>
            <c:idx val="7"/>
            <c:spPr>
              <a:solidFill>
                <a:srgbClr val="7A4A2B"/>
              </a:solidFill>
              <a:ln w="15875">
                <a:solidFill>
                  <a:srgbClr val="FFFFFF"/>
                </a:solidFill>
              </a:ln>
            </c:spPr>
          </c:dPt>
          <c:dPt>
            <c:idx val="8"/>
            <c:spPr>
              <a:solidFill>
                <a:srgbClr val="8A8F98"/>
              </a:solidFill>
              <a:ln w="15875">
                <a:solidFill>
                  <a:srgbClr val="FFFFFF"/>
                </a:solidFill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18%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12%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46%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7%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Solar</c:v>
                </c:pt>
                <c:pt idx="1">
                  <c:v>Wind</c:v>
                </c:pt>
                <c:pt idx="2">
                  <c:v>Hydro</c:v>
                </c:pt>
                <c:pt idx="3">
                  <c:v>Biomass</c:v>
                </c:pt>
                <c:pt idx="4">
                  <c:v>Other renewables</c:v>
                </c:pt>
                <c:pt idx="5">
                  <c:v>Gas</c:v>
                </c:pt>
                <c:pt idx="6">
                  <c:v>Coal and lignite</c:v>
                </c:pt>
                <c:pt idx="7">
                  <c:v>Oil</c:v>
                </c:pt>
                <c:pt idx="8">
                  <c:v>Other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27770.4</c:v>
                </c:pt>
                <c:pt idx="1">
                  <c:v>15545.2</c:v>
                </c:pt>
                <c:pt idx="2">
                  <c:v>17715.7</c:v>
                </c:pt>
                <c:pt idx="3">
                  <c:v>2916.6</c:v>
                </c:pt>
                <c:pt idx="4">
                  <c:v>2901.0</c:v>
                </c:pt>
                <c:pt idx="5">
                  <c:v>70428.8</c:v>
                </c:pt>
                <c:pt idx="6">
                  <c:v>3803.9</c:v>
                </c:pt>
                <c:pt idx="7">
                  <c:v>386.2</c:v>
                </c:pt>
                <c:pt idx="8">
                  <c:v>10251.8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Generation 2021, Jan–Aug (GWh)</c:v>
                </c:pt>
              </c:strCache>
            </c:strRef>
          </c:tx>
          <c:dPt>
            <c:idx val="0"/>
            <c:spPr>
              <a:solidFill>
                <a:srgbClr val="EDA100"/>
              </a:solidFill>
              <a:ln w="1587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1BAF7A"/>
              </a:solidFill>
              <a:ln w="1587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2A78D6"/>
              </a:solidFill>
              <a:ln w="1587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008300"/>
              </a:solidFill>
              <a:ln w="1587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7FB77E"/>
              </a:solidFill>
              <a:ln w="1587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EB6834"/>
              </a:solidFill>
              <a:ln w="15875"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4D4D4D"/>
              </a:solidFill>
              <a:ln w="15875">
                <a:solidFill>
                  <a:srgbClr val="FFFFFF"/>
                </a:solidFill>
              </a:ln>
            </c:spPr>
          </c:dPt>
          <c:dPt>
            <c:idx val="7"/>
            <c:spPr>
              <a:solidFill>
                <a:srgbClr val="7A4A2B"/>
              </a:solidFill>
              <a:ln w="15875">
                <a:solidFill>
                  <a:srgbClr val="FFFFFF"/>
                </a:solidFill>
              </a:ln>
            </c:spPr>
          </c:dPt>
          <c:dPt>
            <c:idx val="8"/>
            <c:spPr>
              <a:solidFill>
                <a:srgbClr val="8A8F98"/>
              </a:solidFill>
              <a:ln w="15875">
                <a:solidFill>
                  <a:srgbClr val="FFFFFF"/>
                </a:solidFill>
              </a:ln>
            </c:spPr>
          </c:dPt>
          <c:dLbls>
            <c:dLbl>
              <c:idx val="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9%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8%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76%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Solar</c:v>
                </c:pt>
                <c:pt idx="1">
                  <c:v>Wind</c:v>
                </c:pt>
                <c:pt idx="2">
                  <c:v>Hydro</c:v>
                </c:pt>
                <c:pt idx="3">
                  <c:v>Biomass</c:v>
                </c:pt>
                <c:pt idx="4">
                  <c:v>Other renewables</c:v>
                </c:pt>
                <c:pt idx="5">
                  <c:v>Gas</c:v>
                </c:pt>
                <c:pt idx="6">
                  <c:v>Coal and lignite</c:v>
                </c:pt>
                <c:pt idx="7">
                  <c:v>Oil</c:v>
                </c:pt>
                <c:pt idx="8">
                  <c:v>Other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3565.0</c:v>
                </c:pt>
                <c:pt idx="1">
                  <c:v>8931.4</c:v>
                </c:pt>
                <c:pt idx="2">
                  <c:v>1312.3</c:v>
                </c:pt>
                <c:pt idx="3">
                  <c:v>1269.9</c:v>
                </c:pt>
                <c:pt idx="4">
                  <c:v>0.0</c:v>
                </c:pt>
                <c:pt idx="5">
                  <c:v>7787.7</c:v>
                </c:pt>
                <c:pt idx="6">
                  <c:v>78809.0</c:v>
                </c:pt>
                <c:pt idx="7">
                  <c:v>1466.8</c:v>
                </c:pt>
                <c:pt idx="8">
                  <c:v>0.0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Generation 2026, Jan–Aug (GWh)</c:v>
                </c:pt>
              </c:strCache>
            </c:strRef>
          </c:tx>
          <c:dPt>
            <c:idx val="0"/>
            <c:spPr>
              <a:solidFill>
                <a:srgbClr val="EDA100"/>
              </a:solidFill>
              <a:ln w="1587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1BAF7A"/>
              </a:solidFill>
              <a:ln w="1587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2A78D6"/>
              </a:solidFill>
              <a:ln w="1587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008300"/>
              </a:solidFill>
              <a:ln w="1587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7FB77E"/>
              </a:solidFill>
              <a:ln w="1587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EB6834"/>
              </a:solidFill>
              <a:ln w="15875"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4D4D4D"/>
              </a:solidFill>
              <a:ln w="15875">
                <a:solidFill>
                  <a:srgbClr val="FFFFFF"/>
                </a:solidFill>
              </a:ln>
            </c:spPr>
          </c:dPt>
          <c:dPt>
            <c:idx val="7"/>
            <c:spPr>
              <a:solidFill>
                <a:srgbClr val="7A4A2B"/>
              </a:solidFill>
              <a:ln w="15875">
                <a:solidFill>
                  <a:srgbClr val="FFFFFF"/>
                </a:solidFill>
              </a:ln>
            </c:spPr>
          </c:dPt>
          <c:dPt>
            <c:idx val="8"/>
            <c:spPr>
              <a:solidFill>
                <a:srgbClr val="8A8F98"/>
              </a:solidFill>
              <a:ln w="15875">
                <a:solidFill>
                  <a:srgbClr val="FFFFFF"/>
                </a:solidFill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16%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12%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12%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53%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Solar</c:v>
                </c:pt>
                <c:pt idx="1">
                  <c:v>Wind</c:v>
                </c:pt>
                <c:pt idx="2">
                  <c:v>Hydro</c:v>
                </c:pt>
                <c:pt idx="3">
                  <c:v>Biomass</c:v>
                </c:pt>
                <c:pt idx="4">
                  <c:v>Other renewables</c:v>
                </c:pt>
                <c:pt idx="5">
                  <c:v>Gas</c:v>
                </c:pt>
                <c:pt idx="6">
                  <c:v>Coal and lignite</c:v>
                </c:pt>
                <c:pt idx="7">
                  <c:v>Oil</c:v>
                </c:pt>
                <c:pt idx="8">
                  <c:v>Other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18038.3</c:v>
                </c:pt>
                <c:pt idx="1">
                  <c:v>12959.8</c:v>
                </c:pt>
                <c:pt idx="2">
                  <c:v>857.4</c:v>
                </c:pt>
                <c:pt idx="3">
                  <c:v>1714.2</c:v>
                </c:pt>
                <c:pt idx="4">
                  <c:v>360.4</c:v>
                </c:pt>
                <c:pt idx="5">
                  <c:v>13628.3</c:v>
                </c:pt>
                <c:pt idx="6">
                  <c:v>58523.7</c:v>
                </c:pt>
                <c:pt idx="7">
                  <c:v>971.2</c:v>
                </c:pt>
                <c:pt idx="8">
                  <c:v>3498.8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Generation 2021, Jan–Aug (GWh)</c:v>
                </c:pt>
              </c:strCache>
            </c:strRef>
          </c:tx>
          <c:dPt>
            <c:idx val="0"/>
            <c:spPr>
              <a:solidFill>
                <a:srgbClr val="EDA100"/>
              </a:solidFill>
              <a:ln w="1587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2A78D6"/>
              </a:solidFill>
              <a:ln w="1587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008300"/>
              </a:solidFill>
              <a:ln w="1587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7FB77E"/>
              </a:solidFill>
              <a:ln w="1587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8E5AC8"/>
              </a:solidFill>
              <a:ln w="1587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EB6834"/>
              </a:solidFill>
              <a:ln w="15875"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4D4D4D"/>
              </a:solidFill>
              <a:ln w="15875">
                <a:solidFill>
                  <a:srgbClr val="FFFFFF"/>
                </a:solidFill>
              </a:ln>
            </c:spPr>
          </c:dPt>
          <c:dPt>
            <c:idx val="7"/>
            <c:spPr>
              <a:solidFill>
                <a:srgbClr val="7A4A2B"/>
              </a:solidFill>
              <a:ln w="15875">
                <a:solidFill>
                  <a:srgbClr val="FFFFFF"/>
                </a:solidFill>
              </a:ln>
            </c:spPr>
          </c:dPt>
          <c:dPt>
            <c:idx val="8"/>
            <c:spPr>
              <a:solidFill>
                <a:srgbClr val="8A8F98"/>
              </a:solidFill>
              <a:ln w="15875">
                <a:solidFill>
                  <a:srgbClr val="FFFFFF"/>
                </a:solidFill>
              </a:ln>
            </c:spPr>
          </c:dPt>
          <c:dLbls>
            <c:dLbl>
              <c:idx val="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16%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53%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14%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Solar</c:v>
                </c:pt>
                <c:pt idx="1">
                  <c:v>Hydro</c:v>
                </c:pt>
                <c:pt idx="2">
                  <c:v>Biomass</c:v>
                </c:pt>
                <c:pt idx="3">
                  <c:v>Other renewables</c:v>
                </c:pt>
                <c:pt idx="4">
                  <c:v>Nuclear</c:v>
                </c:pt>
                <c:pt idx="5">
                  <c:v>Gas</c:v>
                </c:pt>
                <c:pt idx="6">
                  <c:v>Coal and lignite</c:v>
                </c:pt>
                <c:pt idx="7">
                  <c:v>Oil</c:v>
                </c:pt>
                <c:pt idx="8">
                  <c:v>Other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382.0</c:v>
                </c:pt>
                <c:pt idx="1">
                  <c:v>3200.8</c:v>
                </c:pt>
                <c:pt idx="2">
                  <c:v>612.9</c:v>
                </c:pt>
                <c:pt idx="3">
                  <c:v>343.0</c:v>
                </c:pt>
                <c:pt idx="4">
                  <c:v>10264.4</c:v>
                </c:pt>
                <c:pt idx="5">
                  <c:v>2649.0</c:v>
                </c:pt>
                <c:pt idx="6">
                  <c:v>822.9</c:v>
                </c:pt>
                <c:pt idx="7">
                  <c:v>273.6</c:v>
                </c:pt>
                <c:pt idx="8">
                  <c:v>906.6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Generation 2026, Jan–Aug (GWh)</c:v>
                </c:pt>
              </c:strCache>
            </c:strRef>
          </c:tx>
          <c:dPt>
            <c:idx val="0"/>
            <c:spPr>
              <a:solidFill>
                <a:srgbClr val="EDA100"/>
              </a:solidFill>
              <a:ln w="1587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2A78D6"/>
              </a:solidFill>
              <a:ln w="1587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008300"/>
              </a:solidFill>
              <a:ln w="1587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7FB77E"/>
              </a:solidFill>
              <a:ln w="1587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8E5AC8"/>
              </a:solidFill>
              <a:ln w="1587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EB6834"/>
              </a:solidFill>
              <a:ln w="15875"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4D4D4D"/>
              </a:solidFill>
              <a:ln w="15875">
                <a:solidFill>
                  <a:srgbClr val="FFFFFF"/>
                </a:solidFill>
              </a:ln>
            </c:spPr>
          </c:dPt>
          <c:dPt>
            <c:idx val="7"/>
            <c:spPr>
              <a:solidFill>
                <a:srgbClr val="7A4A2B"/>
              </a:solidFill>
              <a:ln w="15875">
                <a:solidFill>
                  <a:srgbClr val="FFFFFF"/>
                </a:solidFill>
              </a:ln>
            </c:spPr>
          </c:dPt>
          <c:dPt>
            <c:idx val="8"/>
            <c:spPr>
              <a:solidFill>
                <a:srgbClr val="8A8F98"/>
              </a:solidFill>
              <a:ln w="15875">
                <a:solidFill>
                  <a:srgbClr val="FFFFFF"/>
                </a:solidFill>
              </a:ln>
            </c:spPr>
          </c:dPt>
          <c:dLbls>
            <c:dLbl>
              <c:idx val="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68%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Solar</c:v>
                </c:pt>
                <c:pt idx="1">
                  <c:v>Hydro</c:v>
                </c:pt>
                <c:pt idx="2">
                  <c:v>Biomass</c:v>
                </c:pt>
                <c:pt idx="3">
                  <c:v>Other renewables</c:v>
                </c:pt>
                <c:pt idx="4">
                  <c:v>Nuclear</c:v>
                </c:pt>
                <c:pt idx="5">
                  <c:v>Gas</c:v>
                </c:pt>
                <c:pt idx="6">
                  <c:v>Coal and lignite</c:v>
                </c:pt>
                <c:pt idx="7">
                  <c:v>Oil</c:v>
                </c:pt>
                <c:pt idx="8">
                  <c:v>Other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478.7</c:v>
                </c:pt>
                <c:pt idx="1">
                  <c:v>1883.8</c:v>
                </c:pt>
                <c:pt idx="2">
                  <c:v>601.1</c:v>
                </c:pt>
                <c:pt idx="3">
                  <c:v>293.5</c:v>
                </c:pt>
                <c:pt idx="4">
                  <c:v>12860.2</c:v>
                </c:pt>
                <c:pt idx="5">
                  <c:v>1857.2</c:v>
                </c:pt>
                <c:pt idx="6">
                  <c:v>34.8</c:v>
                </c:pt>
                <c:pt idx="7">
                  <c:v>284.6</c:v>
                </c:pt>
                <c:pt idx="8">
                  <c:v>500.2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Generation 2021, Jan–Sep (GWh)</c:v>
                </c:pt>
              </c:strCache>
            </c:strRef>
          </c:tx>
          <c:dPt>
            <c:idx val="0"/>
            <c:spPr>
              <a:solidFill>
                <a:srgbClr val="EDA100"/>
              </a:solidFill>
              <a:ln w="1587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1BAF7A"/>
              </a:solidFill>
              <a:ln w="1587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2A78D6"/>
              </a:solidFill>
              <a:ln w="1587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008300"/>
              </a:solidFill>
              <a:ln w="1587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EB6834"/>
              </a:solidFill>
              <a:ln w="1587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8A8F98"/>
              </a:solidFill>
              <a:ln w="15875">
                <a:solidFill>
                  <a:srgbClr val="FFFFFF"/>
                </a:solidFill>
              </a:ln>
            </c:spPr>
          </c:dPt>
          <c:dLbls>
            <c:dLbl>
              <c:idx val="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13%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67%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13%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Solar</c:v>
                </c:pt>
                <c:pt idx="1">
                  <c:v>Wind</c:v>
                </c:pt>
                <c:pt idx="2">
                  <c:v>Hydro</c:v>
                </c:pt>
                <c:pt idx="3">
                  <c:v>Biomass</c:v>
                </c:pt>
                <c:pt idx="4">
                  <c:v>Gas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740.8</c:v>
                </c:pt>
                <c:pt idx="1">
                  <c:v>4925.6</c:v>
                </c:pt>
                <c:pt idx="2">
                  <c:v>26192.2</c:v>
                </c:pt>
                <c:pt idx="3">
                  <c:v>1104.2</c:v>
                </c:pt>
                <c:pt idx="4">
                  <c:v>5230.6</c:v>
                </c:pt>
                <c:pt idx="5">
                  <c:v>799.2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Generation 2026, Jan–Sep (GWh)</c:v>
                </c:pt>
              </c:strCache>
            </c:strRef>
          </c:tx>
          <c:dPt>
            <c:idx val="0"/>
            <c:spPr>
              <a:solidFill>
                <a:srgbClr val="EDA100"/>
              </a:solidFill>
              <a:ln w="1587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1BAF7A"/>
              </a:solidFill>
              <a:ln w="1587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2A78D6"/>
              </a:solidFill>
              <a:ln w="1587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008300"/>
              </a:solidFill>
              <a:ln w="1587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EB6834"/>
              </a:solidFill>
              <a:ln w="1587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8A8F98"/>
              </a:solidFill>
              <a:ln w="15875">
                <a:solidFill>
                  <a:srgbClr val="FFFFFF"/>
                </a:solidFill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16%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18%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48%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12%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Solar</c:v>
                </c:pt>
                <c:pt idx="1">
                  <c:v>Wind</c:v>
                </c:pt>
                <c:pt idx="2">
                  <c:v>Hydro</c:v>
                </c:pt>
                <c:pt idx="3">
                  <c:v>Biomass</c:v>
                </c:pt>
                <c:pt idx="4">
                  <c:v>Gas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5990.5</c:v>
                </c:pt>
                <c:pt idx="1">
                  <c:v>6378.2</c:v>
                </c:pt>
                <c:pt idx="2">
                  <c:v>17456.8</c:v>
                </c:pt>
                <c:pt idx="3">
                  <c:v>1315.7</c:v>
                </c:pt>
                <c:pt idx="4">
                  <c:v>4460.7</c:v>
                </c:pt>
                <c:pt idx="5">
                  <c:v>799.2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Generation 2021, Jan–Sep (GWh)</c:v>
                </c:pt>
              </c:strCache>
            </c:strRef>
          </c:tx>
          <c:dPt>
            <c:idx val="0"/>
            <c:spPr>
              <a:solidFill>
                <a:srgbClr val="EDA100"/>
              </a:solidFill>
              <a:ln w="1587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1BAF7A"/>
              </a:solidFill>
              <a:ln w="1587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2A78D6"/>
              </a:solidFill>
              <a:ln w="1587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008300"/>
              </a:solidFill>
              <a:ln w="1587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8E5AC8"/>
              </a:solidFill>
              <a:ln w="1587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EB6834"/>
              </a:solidFill>
              <a:ln w="15875"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4D4D4D"/>
              </a:solidFill>
              <a:ln w="15875">
                <a:solidFill>
                  <a:srgbClr val="FFFFFF"/>
                </a:solidFill>
              </a:ln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12%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38%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6%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38%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Solar</c:v>
                </c:pt>
                <c:pt idx="1">
                  <c:v>Wind</c:v>
                </c:pt>
                <c:pt idx="2">
                  <c:v>Hydro</c:v>
                </c:pt>
                <c:pt idx="3">
                  <c:v>Biomass</c:v>
                </c:pt>
                <c:pt idx="4">
                  <c:v>Nuclear</c:v>
                </c:pt>
                <c:pt idx="5">
                  <c:v>Gas</c:v>
                </c:pt>
                <c:pt idx="6">
                  <c:v>Coal and lignite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1217.3</c:v>
                </c:pt>
                <c:pt idx="1">
                  <c:v>952.5</c:v>
                </c:pt>
                <c:pt idx="2">
                  <c:v>3924.9</c:v>
                </c:pt>
                <c:pt idx="3">
                  <c:v>190.7</c:v>
                </c:pt>
                <c:pt idx="4">
                  <c:v>12527.8</c:v>
                </c:pt>
                <c:pt idx="5">
                  <c:v>1912.9</c:v>
                </c:pt>
                <c:pt idx="6">
                  <c:v>12594.5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Generation 2026, Jan–Sep (GWh)</c:v>
                </c:pt>
              </c:strCache>
            </c:strRef>
          </c:tx>
          <c:dPt>
            <c:idx val="0"/>
            <c:spPr>
              <a:solidFill>
                <a:srgbClr val="EDA100"/>
              </a:solidFill>
              <a:ln w="1587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1BAF7A"/>
              </a:solidFill>
              <a:ln w="1587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2A78D6"/>
              </a:solidFill>
              <a:ln w="1587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008300"/>
              </a:solidFill>
              <a:ln w="1587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8E5AC8"/>
              </a:solidFill>
              <a:ln w="1587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EB6834"/>
              </a:solidFill>
              <a:ln w="15875"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4D4D4D"/>
              </a:solidFill>
              <a:ln w="15875">
                <a:solidFill>
                  <a:srgbClr val="FFFFFF"/>
                </a:solidFill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22%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12%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38%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21%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Solar</c:v>
                </c:pt>
                <c:pt idx="1">
                  <c:v>Wind</c:v>
                </c:pt>
                <c:pt idx="2">
                  <c:v>Hydro</c:v>
                </c:pt>
                <c:pt idx="3">
                  <c:v>Biomass</c:v>
                </c:pt>
                <c:pt idx="4">
                  <c:v>Nuclear</c:v>
                </c:pt>
                <c:pt idx="5">
                  <c:v>Gas</c:v>
                </c:pt>
                <c:pt idx="6">
                  <c:v>Coal and lignite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6571.1</c:v>
                </c:pt>
                <c:pt idx="1">
                  <c:v>933.1</c:v>
                </c:pt>
                <c:pt idx="2">
                  <c:v>3493.4</c:v>
                </c:pt>
                <c:pt idx="3">
                  <c:v>86.6</c:v>
                </c:pt>
                <c:pt idx="4">
                  <c:v>11323.1</c:v>
                </c:pt>
                <c:pt idx="5">
                  <c:v>1426.9</c:v>
                </c:pt>
                <c:pt idx="6">
                  <c:v>6189.9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Generation 2021, Jan–Sep (GWh)</c:v>
                </c:pt>
              </c:strCache>
            </c:strRef>
          </c:tx>
          <c:dPt>
            <c:idx val="0"/>
            <c:spPr>
              <a:solidFill>
                <a:srgbClr val="EDA100"/>
              </a:solidFill>
              <a:ln w="1587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1BAF7A"/>
              </a:solidFill>
              <a:ln w="1587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2A78D6"/>
              </a:solidFill>
              <a:ln w="1587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008300"/>
              </a:solidFill>
              <a:ln w="1587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7FB77E"/>
              </a:solidFill>
              <a:ln w="1587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8E5AC8"/>
              </a:solidFill>
              <a:ln w="15875"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EB6834"/>
              </a:solidFill>
              <a:ln w="15875">
                <a:solidFill>
                  <a:srgbClr val="FFFFFF"/>
                </a:solidFill>
              </a:ln>
            </c:spPr>
          </c:dPt>
          <c:dPt>
            <c:idx val="7"/>
            <c:spPr>
              <a:solidFill>
                <a:srgbClr val="4D4D4D"/>
              </a:solidFill>
              <a:ln w="15875">
                <a:solidFill>
                  <a:srgbClr val="FFFFFF"/>
                </a:solidFill>
              </a:ln>
            </c:spPr>
          </c:dPt>
          <c:dPt>
            <c:idx val="8"/>
            <c:spPr>
              <a:solidFill>
                <a:srgbClr val="8A8F98"/>
              </a:solidFill>
              <a:ln w="15875">
                <a:solidFill>
                  <a:srgbClr val="FFFFFF"/>
                </a:solidFill>
              </a:ln>
            </c:spPr>
          </c:dPt>
          <c:dLbls>
            <c:dLbl>
              <c:idx val="5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37%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8%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40%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Solar</c:v>
                </c:pt>
                <c:pt idx="1">
                  <c:v>Wind</c:v>
                </c:pt>
                <c:pt idx="2">
                  <c:v>Hydro</c:v>
                </c:pt>
                <c:pt idx="3">
                  <c:v>Biomass</c:v>
                </c:pt>
                <c:pt idx="4">
                  <c:v>Other renewables</c:v>
                </c:pt>
                <c:pt idx="5">
                  <c:v>Nuclear</c:v>
                </c:pt>
                <c:pt idx="6">
                  <c:v>Gas</c:v>
                </c:pt>
                <c:pt idx="7">
                  <c:v>Coal and lignite</c:v>
                </c:pt>
                <c:pt idx="8">
                  <c:v>Other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1881.9</c:v>
                </c:pt>
                <c:pt idx="1">
                  <c:v>415.7</c:v>
                </c:pt>
                <c:pt idx="2">
                  <c:v>1965.6</c:v>
                </c:pt>
                <c:pt idx="3">
                  <c:v>1911.4</c:v>
                </c:pt>
                <c:pt idx="4">
                  <c:v>1759.8</c:v>
                </c:pt>
                <c:pt idx="5">
                  <c:v>20825.7</c:v>
                </c:pt>
                <c:pt idx="6">
                  <c:v>4367.2</c:v>
                </c:pt>
                <c:pt idx="7">
                  <c:v>22304.2</c:v>
                </c:pt>
                <c:pt idx="8">
                  <c:v>266.8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Generation 2026, Jan–Sep (GWh)</c:v>
                </c:pt>
              </c:strCache>
            </c:strRef>
          </c:tx>
          <c:dPt>
            <c:idx val="0"/>
            <c:spPr>
              <a:solidFill>
                <a:srgbClr val="EDA100"/>
              </a:solidFill>
              <a:ln w="1587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1BAF7A"/>
              </a:solidFill>
              <a:ln w="1587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2A78D6"/>
              </a:solidFill>
              <a:ln w="1587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008300"/>
              </a:solidFill>
              <a:ln w="1587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7FB77E"/>
              </a:solidFill>
              <a:ln w="1587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8E5AC8"/>
              </a:solidFill>
              <a:ln w="15875"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EB6834"/>
              </a:solidFill>
              <a:ln w="15875">
                <a:solidFill>
                  <a:srgbClr val="FFFFFF"/>
                </a:solidFill>
              </a:ln>
            </c:spPr>
          </c:dPt>
          <c:dPt>
            <c:idx val="7"/>
            <c:spPr>
              <a:solidFill>
                <a:srgbClr val="4D4D4D"/>
              </a:solidFill>
              <a:ln w="15875">
                <a:solidFill>
                  <a:srgbClr val="FFFFFF"/>
                </a:solidFill>
              </a:ln>
            </c:spPr>
          </c:dPt>
          <c:dPt>
            <c:idx val="8"/>
            <c:spPr>
              <a:solidFill>
                <a:srgbClr val="8A8F98"/>
              </a:solidFill>
              <a:ln w="15875">
                <a:solidFill>
                  <a:srgbClr val="FFFFFF"/>
                </a:solidFill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9%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41%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6%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34%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Solar</c:v>
                </c:pt>
                <c:pt idx="1">
                  <c:v>Wind</c:v>
                </c:pt>
                <c:pt idx="2">
                  <c:v>Hydro</c:v>
                </c:pt>
                <c:pt idx="3">
                  <c:v>Biomass</c:v>
                </c:pt>
                <c:pt idx="4">
                  <c:v>Other renewables</c:v>
                </c:pt>
                <c:pt idx="5">
                  <c:v>Nuclear</c:v>
                </c:pt>
                <c:pt idx="6">
                  <c:v>Gas</c:v>
                </c:pt>
                <c:pt idx="7">
                  <c:v>Coal and lignite</c:v>
                </c:pt>
                <c:pt idx="8">
                  <c:v>Other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4642.1</c:v>
                </c:pt>
                <c:pt idx="1">
                  <c:v>514.5</c:v>
                </c:pt>
                <c:pt idx="2">
                  <c:v>960.1</c:v>
                </c:pt>
                <c:pt idx="3">
                  <c:v>1945.8</c:v>
                </c:pt>
                <c:pt idx="4">
                  <c:v>1742.1</c:v>
                </c:pt>
                <c:pt idx="5">
                  <c:v>22027.9</c:v>
                </c:pt>
                <c:pt idx="6">
                  <c:v>3418.4</c:v>
                </c:pt>
                <c:pt idx="7">
                  <c:v>18380.9</c:v>
                </c:pt>
                <c:pt idx="8">
                  <c:v>568.9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Generation 2021, Jan–Sep (GWh)</c:v>
                </c:pt>
              </c:strCache>
            </c:strRef>
          </c:tx>
          <c:dPt>
            <c:idx val="0"/>
            <c:spPr>
              <a:solidFill>
                <a:srgbClr val="EDA100"/>
              </a:solidFill>
              <a:ln w="1587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1BAF7A"/>
              </a:solidFill>
              <a:ln w="1587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2A78D6"/>
              </a:solidFill>
              <a:ln w="1587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008300"/>
              </a:solidFill>
              <a:ln w="1587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7FB77E"/>
              </a:solidFill>
              <a:ln w="1587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8E5AC8"/>
              </a:solidFill>
              <a:ln w="15875"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EB6834"/>
              </a:solidFill>
              <a:ln w="15875">
                <a:solidFill>
                  <a:srgbClr val="FFFFFF"/>
                </a:solidFill>
              </a:ln>
            </c:spPr>
          </c:dPt>
          <c:dPt>
            <c:idx val="7"/>
            <c:spPr>
              <a:solidFill>
                <a:srgbClr val="4D4D4D"/>
              </a:solidFill>
              <a:ln w="15875">
                <a:solidFill>
                  <a:srgbClr val="FFFFFF"/>
                </a:solidFill>
              </a:ln>
            </c:spPr>
          </c:dPt>
          <c:dPt>
            <c:idx val="8"/>
            <c:spPr>
              <a:solidFill>
                <a:srgbClr val="7A4A2B"/>
              </a:solidFill>
              <a:ln w="15875">
                <a:solidFill>
                  <a:srgbClr val="FFFFFF"/>
                </a:solidFill>
              </a:ln>
            </c:spPr>
          </c:dPt>
          <c:dPt>
            <c:idx val="9"/>
            <c:spPr>
              <a:solidFill>
                <a:srgbClr val="8A8F98"/>
              </a:solidFill>
              <a:ln w="15875">
                <a:solidFill>
                  <a:srgbClr val="FFFFFF"/>
                </a:solidFill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11%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21%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8%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13%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12%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28%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Solar</c:v>
                </c:pt>
                <c:pt idx="1">
                  <c:v>Wind</c:v>
                </c:pt>
                <c:pt idx="2">
                  <c:v>Hydro</c:v>
                </c:pt>
                <c:pt idx="3">
                  <c:v>Biomass</c:v>
                </c:pt>
                <c:pt idx="4">
                  <c:v>Other renewables</c:v>
                </c:pt>
                <c:pt idx="5">
                  <c:v>Nuclear</c:v>
                </c:pt>
                <c:pt idx="6">
                  <c:v>Gas</c:v>
                </c:pt>
                <c:pt idx="7">
                  <c:v>Coal and lignite</c:v>
                </c:pt>
                <c:pt idx="8">
                  <c:v>Oil</c:v>
                </c:pt>
                <c:pt idx="9">
                  <c:v>Other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41238.4</c:v>
                </c:pt>
                <c:pt idx="1">
                  <c:v>77855.1</c:v>
                </c:pt>
                <c:pt idx="2">
                  <c:v>12209.3</c:v>
                </c:pt>
                <c:pt idx="3">
                  <c:v>28405.0</c:v>
                </c:pt>
                <c:pt idx="4">
                  <c:v>1014.3</c:v>
                </c:pt>
                <c:pt idx="5">
                  <c:v>48905.6</c:v>
                </c:pt>
                <c:pt idx="6">
                  <c:v>44517.0</c:v>
                </c:pt>
                <c:pt idx="7">
                  <c:v>104226.6</c:v>
                </c:pt>
                <c:pt idx="8">
                  <c:v>2464.8</c:v>
                </c:pt>
                <c:pt idx="9">
                  <c:v>7246.9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Generation 2026, Jan–Sep (GWh)</c:v>
                </c:pt>
              </c:strCache>
            </c:strRef>
          </c:tx>
          <c:dPt>
            <c:idx val="0"/>
            <c:spPr>
              <a:solidFill>
                <a:srgbClr val="EDA100"/>
              </a:solidFill>
              <a:ln w="1587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1BAF7A"/>
              </a:solidFill>
              <a:ln w="1587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2A78D6"/>
              </a:solidFill>
              <a:ln w="1587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008300"/>
              </a:solidFill>
              <a:ln w="1587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7FB77E"/>
              </a:solidFill>
              <a:ln w="1587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8E5AC8"/>
              </a:solidFill>
              <a:ln w="15875"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EB6834"/>
              </a:solidFill>
              <a:ln w="15875">
                <a:solidFill>
                  <a:srgbClr val="FFFFFF"/>
                </a:solidFill>
              </a:ln>
            </c:spPr>
          </c:dPt>
          <c:dPt>
            <c:idx val="7"/>
            <c:spPr>
              <a:solidFill>
                <a:srgbClr val="4D4D4D"/>
              </a:solidFill>
              <a:ln w="15875">
                <a:solidFill>
                  <a:srgbClr val="FFFFFF"/>
                </a:solidFill>
              </a:ln>
            </c:spPr>
          </c:dPt>
          <c:dPt>
            <c:idx val="8"/>
            <c:spPr>
              <a:solidFill>
                <a:srgbClr val="7A4A2B"/>
              </a:solidFill>
              <a:ln w="15875">
                <a:solidFill>
                  <a:srgbClr val="FFFFFF"/>
                </a:solidFill>
              </a:ln>
            </c:spPr>
          </c:dPt>
          <c:dPt>
            <c:idx val="9"/>
            <c:spPr>
              <a:solidFill>
                <a:srgbClr val="8A8F98"/>
              </a:solidFill>
              <a:ln w="15875">
                <a:solidFill>
                  <a:srgbClr val="FFFFFF"/>
                </a:solidFill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23%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29%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8%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12%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22%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Solar</c:v>
                </c:pt>
                <c:pt idx="1">
                  <c:v>Wind</c:v>
                </c:pt>
                <c:pt idx="2">
                  <c:v>Hydro</c:v>
                </c:pt>
                <c:pt idx="3">
                  <c:v>Biomass</c:v>
                </c:pt>
                <c:pt idx="4">
                  <c:v>Other renewables</c:v>
                </c:pt>
                <c:pt idx="5">
                  <c:v>Nuclear</c:v>
                </c:pt>
                <c:pt idx="6">
                  <c:v>Gas</c:v>
                </c:pt>
                <c:pt idx="7">
                  <c:v>Coal and lignite</c:v>
                </c:pt>
                <c:pt idx="8">
                  <c:v>Oil</c:v>
                </c:pt>
                <c:pt idx="9">
                  <c:v>Other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76240.0</c:v>
                </c:pt>
                <c:pt idx="1">
                  <c:v>98449.4</c:v>
                </c:pt>
                <c:pt idx="2">
                  <c:v>9425.5</c:v>
                </c:pt>
                <c:pt idx="3">
                  <c:v>26036.7</c:v>
                </c:pt>
                <c:pt idx="4">
                  <c:v>638.7</c:v>
                </c:pt>
                <c:pt idx="5">
                  <c:v>0.0</c:v>
                </c:pt>
                <c:pt idx="6">
                  <c:v>41291.1</c:v>
                </c:pt>
                <c:pt idx="7">
                  <c:v>74484.6</c:v>
                </c:pt>
                <c:pt idx="8">
                  <c:v>2043.0</c:v>
                </c:pt>
                <c:pt idx="9">
                  <c:v>6219.8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Generation 2021, Jan–Sep (GWh)</c:v>
                </c:pt>
              </c:strCache>
            </c:strRef>
          </c:tx>
          <c:dPt>
            <c:idx val="0"/>
            <c:spPr>
              <a:solidFill>
                <a:srgbClr val="EDA100"/>
              </a:solidFill>
              <a:ln w="1587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1BAF7A"/>
              </a:solidFill>
              <a:ln w="1587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2A78D6"/>
              </a:solidFill>
              <a:ln w="1587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008300"/>
              </a:solidFill>
              <a:ln w="1587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7FB77E"/>
              </a:solidFill>
              <a:ln w="1587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EB6834"/>
              </a:solidFill>
              <a:ln w="15875"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4D4D4D"/>
              </a:solidFill>
              <a:ln w="15875">
                <a:solidFill>
                  <a:srgbClr val="FFFFFF"/>
                </a:solidFill>
              </a:ln>
            </c:spPr>
          </c:dPt>
          <c:dPt>
            <c:idx val="7"/>
            <c:spPr>
              <a:solidFill>
                <a:srgbClr val="7A4A2B"/>
              </a:solidFill>
              <a:ln w="15875">
                <a:solidFill>
                  <a:srgbClr val="FFFFFF"/>
                </a:solidFill>
              </a:ln>
            </c:spPr>
          </c:dPt>
          <c:dPt>
            <c:idx val="8"/>
            <c:spPr>
              <a:solidFill>
                <a:srgbClr val="8A8F98"/>
              </a:solidFill>
              <a:ln w="15875">
                <a:solidFill>
                  <a:srgbClr val="FFFFFF"/>
                </a:solidFill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8%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18%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45%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6%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7%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Solar</c:v>
                </c:pt>
                <c:pt idx="1">
                  <c:v>Wind</c:v>
                </c:pt>
                <c:pt idx="2">
                  <c:v>Hydro</c:v>
                </c:pt>
                <c:pt idx="3">
                  <c:v>Biomass</c:v>
                </c:pt>
                <c:pt idx="4">
                  <c:v>Other renewables</c:v>
                </c:pt>
                <c:pt idx="5">
                  <c:v>Gas</c:v>
                </c:pt>
                <c:pt idx="6">
                  <c:v>Coal and lignite</c:v>
                </c:pt>
                <c:pt idx="7">
                  <c:v>Oil</c:v>
                </c:pt>
                <c:pt idx="8">
                  <c:v>Other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17340.5</c:v>
                </c:pt>
                <c:pt idx="1">
                  <c:v>14545.1</c:v>
                </c:pt>
                <c:pt idx="2">
                  <c:v>33061.9</c:v>
                </c:pt>
                <c:pt idx="3">
                  <c:v>4506.4</c:v>
                </c:pt>
                <c:pt idx="4">
                  <c:v>4138.4</c:v>
                </c:pt>
                <c:pt idx="5">
                  <c:v>82315.3</c:v>
                </c:pt>
                <c:pt idx="6">
                  <c:v>11659.0</c:v>
                </c:pt>
                <c:pt idx="7">
                  <c:v>1091.9</c:v>
                </c:pt>
                <c:pt idx="8">
                  <c:v>13273.6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Generation 2026, Jan–Sep (GWh)</c:v>
                </c:pt>
              </c:strCache>
            </c:strRef>
          </c:tx>
          <c:dPt>
            <c:idx val="0"/>
            <c:spPr>
              <a:solidFill>
                <a:srgbClr val="EDA100"/>
              </a:solidFill>
              <a:ln w="1587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1BAF7A"/>
              </a:solidFill>
              <a:ln w="1587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2A78D6"/>
              </a:solidFill>
              <a:ln w="1587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008300"/>
              </a:solidFill>
              <a:ln w="1587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7FB77E"/>
              </a:solidFill>
              <a:ln w="1587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EB6834"/>
              </a:solidFill>
              <a:ln w="15875"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4D4D4D"/>
              </a:solidFill>
              <a:ln w="15875">
                <a:solidFill>
                  <a:srgbClr val="FFFFFF"/>
                </a:solidFill>
              </a:ln>
            </c:spPr>
          </c:dPt>
          <c:dPt>
            <c:idx val="7"/>
            <c:spPr>
              <a:solidFill>
                <a:srgbClr val="7A4A2B"/>
              </a:solidFill>
              <a:ln w="15875">
                <a:solidFill>
                  <a:srgbClr val="FFFFFF"/>
                </a:solidFill>
              </a:ln>
            </c:spPr>
          </c:dPt>
          <c:dPt>
            <c:idx val="8"/>
            <c:spPr>
              <a:solidFill>
                <a:srgbClr val="8A8F98"/>
              </a:solidFill>
              <a:ln w="15875">
                <a:solidFill>
                  <a:srgbClr val="FFFFFF"/>
                </a:solidFill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18%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11%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47%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7%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Solar</c:v>
                </c:pt>
                <c:pt idx="1">
                  <c:v>Wind</c:v>
                </c:pt>
                <c:pt idx="2">
                  <c:v>Hydro</c:v>
                </c:pt>
                <c:pt idx="3">
                  <c:v>Biomass</c:v>
                </c:pt>
                <c:pt idx="4">
                  <c:v>Other renewables</c:v>
                </c:pt>
                <c:pt idx="5">
                  <c:v>Gas</c:v>
                </c:pt>
                <c:pt idx="6">
                  <c:v>Coal and lignite</c:v>
                </c:pt>
                <c:pt idx="7">
                  <c:v>Oil</c:v>
                </c:pt>
                <c:pt idx="8">
                  <c:v>Other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31333.6</c:v>
                </c:pt>
                <c:pt idx="1">
                  <c:v>16829.1</c:v>
                </c:pt>
                <c:pt idx="2">
                  <c:v>19611.0</c:v>
                </c:pt>
                <c:pt idx="3">
                  <c:v>3289.0</c:v>
                </c:pt>
                <c:pt idx="4">
                  <c:v>3318.4</c:v>
                </c:pt>
                <c:pt idx="5">
                  <c:v>80408.2</c:v>
                </c:pt>
                <c:pt idx="6">
                  <c:v>4301.0</c:v>
                </c:pt>
                <c:pt idx="7">
                  <c:v>538.3</c:v>
                </c:pt>
                <c:pt idx="8">
                  <c:v>11575.8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Generation 2021, Jan–Sep (GWh)</c:v>
                </c:pt>
              </c:strCache>
            </c:strRef>
          </c:tx>
          <c:dPt>
            <c:idx val="0"/>
            <c:spPr>
              <a:solidFill>
                <a:srgbClr val="EDA100"/>
              </a:solidFill>
              <a:ln w="1587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1BAF7A"/>
              </a:solidFill>
              <a:ln w="1587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2A78D6"/>
              </a:solidFill>
              <a:ln w="1587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008300"/>
              </a:solidFill>
              <a:ln w="1587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7FB77E"/>
              </a:solidFill>
              <a:ln w="1587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EB6834"/>
              </a:solidFill>
              <a:ln w="15875"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4D4D4D"/>
              </a:solidFill>
              <a:ln w="15875">
                <a:solidFill>
                  <a:srgbClr val="FFFFFF"/>
                </a:solidFill>
              </a:ln>
            </c:spPr>
          </c:dPt>
          <c:dPt>
            <c:idx val="7"/>
            <c:spPr>
              <a:solidFill>
                <a:srgbClr val="7A4A2B"/>
              </a:solidFill>
              <a:ln w="15875">
                <a:solidFill>
                  <a:srgbClr val="FFFFFF"/>
                </a:solidFill>
              </a:ln>
            </c:spPr>
          </c:dPt>
          <c:dPt>
            <c:idx val="8"/>
            <c:spPr>
              <a:solidFill>
                <a:srgbClr val="8A8F98"/>
              </a:solidFill>
              <a:ln w="15875">
                <a:solidFill>
                  <a:srgbClr val="FFFFFF"/>
                </a:solidFill>
              </a:ln>
            </c:spPr>
          </c:dPt>
          <c:dLbls>
            <c:dLbl>
              <c:idx val="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9%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7%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77%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Solar</c:v>
                </c:pt>
                <c:pt idx="1">
                  <c:v>Wind</c:v>
                </c:pt>
                <c:pt idx="2">
                  <c:v>Hydro</c:v>
                </c:pt>
                <c:pt idx="3">
                  <c:v>Biomass</c:v>
                </c:pt>
                <c:pt idx="4">
                  <c:v>Other renewables</c:v>
                </c:pt>
                <c:pt idx="5">
                  <c:v>Gas</c:v>
                </c:pt>
                <c:pt idx="6">
                  <c:v>Coal and lignite</c:v>
                </c:pt>
                <c:pt idx="7">
                  <c:v>Oil</c:v>
                </c:pt>
                <c:pt idx="8">
                  <c:v>Other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4036.3</c:v>
                </c:pt>
                <c:pt idx="1">
                  <c:v>9951.3</c:v>
                </c:pt>
                <c:pt idx="2">
                  <c:v>1485.6</c:v>
                </c:pt>
                <c:pt idx="3">
                  <c:v>1444.5</c:v>
                </c:pt>
                <c:pt idx="4">
                  <c:v>0.0</c:v>
                </c:pt>
                <c:pt idx="5">
                  <c:v>8706.1</c:v>
                </c:pt>
                <c:pt idx="6">
                  <c:v>89523.1</c:v>
                </c:pt>
                <c:pt idx="7">
                  <c:v>1617.8</c:v>
                </c:pt>
                <c:pt idx="8">
                  <c:v>0.0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Generation 2026, Jan–Sep (GWh)</c:v>
                </c:pt>
              </c:strCache>
            </c:strRef>
          </c:tx>
          <c:dPt>
            <c:idx val="0"/>
            <c:spPr>
              <a:solidFill>
                <a:srgbClr val="EDA100"/>
              </a:solidFill>
              <a:ln w="1587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1BAF7A"/>
              </a:solidFill>
              <a:ln w="1587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2A78D6"/>
              </a:solidFill>
              <a:ln w="1587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008300"/>
              </a:solidFill>
              <a:ln w="1587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7FB77E"/>
              </a:solidFill>
              <a:ln w="1587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EB6834"/>
              </a:solidFill>
              <a:ln w="15875"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4D4D4D"/>
              </a:solidFill>
              <a:ln w="15875">
                <a:solidFill>
                  <a:srgbClr val="FFFFFF"/>
                </a:solidFill>
              </a:ln>
            </c:spPr>
          </c:dPt>
          <c:dPt>
            <c:idx val="7"/>
            <c:spPr>
              <a:solidFill>
                <a:srgbClr val="7A4A2B"/>
              </a:solidFill>
              <a:ln w="15875">
                <a:solidFill>
                  <a:srgbClr val="FFFFFF"/>
                </a:solidFill>
              </a:ln>
            </c:spPr>
          </c:dPt>
          <c:dPt>
            <c:idx val="8"/>
            <c:spPr>
              <a:solidFill>
                <a:srgbClr val="8A8F98"/>
              </a:solidFill>
              <a:ln w="15875">
                <a:solidFill>
                  <a:srgbClr val="FFFFFF"/>
                </a:solidFill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16%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12%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12%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53%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Solar</c:v>
                </c:pt>
                <c:pt idx="1">
                  <c:v>Wind</c:v>
                </c:pt>
                <c:pt idx="2">
                  <c:v>Hydro</c:v>
                </c:pt>
                <c:pt idx="3">
                  <c:v>Biomass</c:v>
                </c:pt>
                <c:pt idx="4">
                  <c:v>Other renewables</c:v>
                </c:pt>
                <c:pt idx="5">
                  <c:v>Gas</c:v>
                </c:pt>
                <c:pt idx="6">
                  <c:v>Coal and lignite</c:v>
                </c:pt>
                <c:pt idx="7">
                  <c:v>Oil</c:v>
                </c:pt>
                <c:pt idx="8">
                  <c:v>Other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20192.5</c:v>
                </c:pt>
                <c:pt idx="1">
                  <c:v>15073.1</c:v>
                </c:pt>
                <c:pt idx="2">
                  <c:v>927.4</c:v>
                </c:pt>
                <c:pt idx="3">
                  <c:v>1941.5</c:v>
                </c:pt>
                <c:pt idx="4">
                  <c:v>400.3</c:v>
                </c:pt>
                <c:pt idx="5">
                  <c:v>14858.2</c:v>
                </c:pt>
                <c:pt idx="6">
                  <c:v>65209.3</c:v>
                </c:pt>
                <c:pt idx="7">
                  <c:v>1075.7</c:v>
                </c:pt>
                <c:pt idx="8">
                  <c:v>3877.8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Generation 2021, Jan–Sep (GWh)</c:v>
                </c:pt>
              </c:strCache>
            </c:strRef>
          </c:tx>
          <c:dPt>
            <c:idx val="0"/>
            <c:spPr>
              <a:solidFill>
                <a:srgbClr val="EDA100"/>
              </a:solidFill>
              <a:ln w="1587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2A78D6"/>
              </a:solidFill>
              <a:ln w="1587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008300"/>
              </a:solidFill>
              <a:ln w="1587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7FB77E"/>
              </a:solidFill>
              <a:ln w="1587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8E5AC8"/>
              </a:solidFill>
              <a:ln w="1587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EB6834"/>
              </a:solidFill>
              <a:ln w="15875"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4D4D4D"/>
              </a:solidFill>
              <a:ln w="15875">
                <a:solidFill>
                  <a:srgbClr val="FFFFFF"/>
                </a:solidFill>
              </a:ln>
            </c:spPr>
          </c:dPt>
          <c:dPt>
            <c:idx val="7"/>
            <c:spPr>
              <a:solidFill>
                <a:srgbClr val="7A4A2B"/>
              </a:solidFill>
              <a:ln w="15875">
                <a:solidFill>
                  <a:srgbClr val="FFFFFF"/>
                </a:solidFill>
              </a:ln>
            </c:spPr>
          </c:dPt>
          <c:dPt>
            <c:idx val="8"/>
            <c:spPr>
              <a:solidFill>
                <a:srgbClr val="8A8F98"/>
              </a:solidFill>
              <a:ln w="15875">
                <a:solidFill>
                  <a:srgbClr val="FFFFFF"/>
                </a:solidFill>
              </a:ln>
            </c:spPr>
          </c:dPt>
          <c:dLbls>
            <c:dLbl>
              <c:idx val="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16%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53%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14%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Solar</c:v>
                </c:pt>
                <c:pt idx="1">
                  <c:v>Hydro</c:v>
                </c:pt>
                <c:pt idx="2">
                  <c:v>Biomass</c:v>
                </c:pt>
                <c:pt idx="3">
                  <c:v>Other renewables</c:v>
                </c:pt>
                <c:pt idx="4">
                  <c:v>Nuclear</c:v>
                </c:pt>
                <c:pt idx="5">
                  <c:v>Gas</c:v>
                </c:pt>
                <c:pt idx="6">
                  <c:v>Coal and lignite</c:v>
                </c:pt>
                <c:pt idx="7">
                  <c:v>Oil</c:v>
                </c:pt>
                <c:pt idx="8">
                  <c:v>Other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432.8</c:v>
                </c:pt>
                <c:pt idx="1">
                  <c:v>3526.1</c:v>
                </c:pt>
                <c:pt idx="2">
                  <c:v>667.3</c:v>
                </c:pt>
                <c:pt idx="3">
                  <c:v>384.3</c:v>
                </c:pt>
                <c:pt idx="4">
                  <c:v>11514.3</c:v>
                </c:pt>
                <c:pt idx="5">
                  <c:v>2952.5</c:v>
                </c:pt>
                <c:pt idx="6">
                  <c:v>960.6</c:v>
                </c:pt>
                <c:pt idx="7">
                  <c:v>304.0</c:v>
                </c:pt>
                <c:pt idx="8">
                  <c:v>1000.5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Generation 2026, Jan–Sep (GWh)</c:v>
                </c:pt>
              </c:strCache>
            </c:strRef>
          </c:tx>
          <c:dPt>
            <c:idx val="0"/>
            <c:spPr>
              <a:solidFill>
                <a:srgbClr val="EDA100"/>
              </a:solidFill>
              <a:ln w="1587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2A78D6"/>
              </a:solidFill>
              <a:ln w="1587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008300"/>
              </a:solidFill>
              <a:ln w="1587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7FB77E"/>
              </a:solidFill>
              <a:ln w="1587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8E5AC8"/>
              </a:solidFill>
              <a:ln w="1587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EB6834"/>
              </a:solidFill>
              <a:ln w="15875">
                <a:solidFill>
                  <a:srgbClr val="FFFFFF"/>
                </a:solidFill>
              </a:ln>
            </c:spPr>
          </c:dPt>
          <c:dPt>
            <c:idx val="6"/>
            <c:spPr>
              <a:solidFill>
                <a:srgbClr val="4D4D4D"/>
              </a:solidFill>
              <a:ln w="15875">
                <a:solidFill>
                  <a:srgbClr val="FFFFFF"/>
                </a:solidFill>
              </a:ln>
            </c:spPr>
          </c:dPt>
          <c:dPt>
            <c:idx val="7"/>
            <c:spPr>
              <a:solidFill>
                <a:srgbClr val="7A4A2B"/>
              </a:solidFill>
              <a:ln w="15875">
                <a:solidFill>
                  <a:srgbClr val="FFFFFF"/>
                </a:solidFill>
              </a:ln>
            </c:spPr>
          </c:dPt>
          <c:dPt>
            <c:idx val="8"/>
            <c:spPr>
              <a:solidFill>
                <a:srgbClr val="8A8F98"/>
              </a:solidFill>
              <a:ln w="15875">
                <a:solidFill>
                  <a:srgbClr val="FFFFFF"/>
                </a:solidFill>
              </a:ln>
            </c:spPr>
          </c:dPt>
          <c:dLbls>
            <c:dLbl>
              <c:idx val="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69%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Solar</c:v>
                </c:pt>
                <c:pt idx="1">
                  <c:v>Hydro</c:v>
                </c:pt>
                <c:pt idx="2">
                  <c:v>Biomass</c:v>
                </c:pt>
                <c:pt idx="3">
                  <c:v>Other renewables</c:v>
                </c:pt>
                <c:pt idx="4">
                  <c:v>Nuclear</c:v>
                </c:pt>
                <c:pt idx="5">
                  <c:v>Gas</c:v>
                </c:pt>
                <c:pt idx="6">
                  <c:v>Coal and lignite</c:v>
                </c:pt>
                <c:pt idx="7">
                  <c:v>Oil</c:v>
                </c:pt>
                <c:pt idx="8">
                  <c:v>Other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542.6</c:v>
                </c:pt>
                <c:pt idx="1">
                  <c:v>2030.1</c:v>
                </c:pt>
                <c:pt idx="2">
                  <c:v>646.2</c:v>
                </c:pt>
                <c:pt idx="3">
                  <c:v>325.9</c:v>
                </c:pt>
                <c:pt idx="4">
                  <c:v>14331.7</c:v>
                </c:pt>
                <c:pt idx="5">
                  <c:v>2057.3</c:v>
                </c:pt>
                <c:pt idx="6">
                  <c:v>34.8</c:v>
                </c:pt>
                <c:pt idx="7">
                  <c:v>309.5</c:v>
                </c:pt>
                <c:pt idx="8">
                  <c:v>558.0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Relationship Id="rId3" Type="http://schemas.openxmlformats.org/officeDocument/2006/relationships/chart" Target="../charts/chart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Relationship Id="rId3" Type="http://schemas.openxmlformats.org/officeDocument/2006/relationships/chart" Target="../charts/chart1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Relationship Id="rId3" Type="http://schemas.openxmlformats.org/officeDocument/2006/relationships/chart" Target="../charts/chart2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1.xml"/><Relationship Id="rId3" Type="http://schemas.openxmlformats.org/officeDocument/2006/relationships/chart" Target="../charts/chart2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3.xml"/><Relationship Id="rId3" Type="http://schemas.openxmlformats.org/officeDocument/2006/relationships/chart" Target="../charts/chart2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5.xml"/><Relationship Id="rId3" Type="http://schemas.openxmlformats.org/officeDocument/2006/relationships/chart" Target="../charts/chart2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7.xml"/><Relationship Id="rId3" Type="http://schemas.openxmlformats.org/officeDocument/2006/relationships/chart" Target="../charts/chart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0B3C6F"/>
                </a:solidFill>
                <a:latin typeface="Arial"/>
              </a:rPr>
              <a:t>JANUARY-AUGUST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B3C6F"/>
                </a:solidFill>
                <a:latin typeface="Arial"/>
              </a:rPr>
              <a:t>Austria: electricity generation mix, January–August 2021 and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B3C6F"/>
                </a:solidFill>
                <a:latin typeface="Arial"/>
              </a:rPr>
              <a:t>2021 (Jan–Aug)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783080"/>
          <a:ext cx="393192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783079" y="3364991"/>
            <a:ext cx="20116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B3C6F"/>
                </a:solidFill>
                <a:latin typeface="Arial"/>
              </a:rPr>
              <a:t>35.5 TWh</a:t>
            </a:r>
          </a:p>
          <a:p>
            <a:pPr algn="ctr"/>
            <a:r>
              <a:rPr sz="1100" b="0">
                <a:solidFill>
                  <a:srgbClr val="5B6470"/>
                </a:solidFill>
                <a:latin typeface="Arial"/>
              </a:rPr>
              <a:t>total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24728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B6470"/>
                </a:solidFill>
                <a:latin typeface="Arial"/>
              </a:rPr>
              <a:t>Non-fossil: 84%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23444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B3C6F"/>
                </a:solidFill>
                <a:latin typeface="Arial"/>
              </a:rPr>
              <a:t>2026 (Jan–Aug)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120640" y="1783080"/>
          <a:ext cx="3931920" cy="3931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80759" y="3364991"/>
            <a:ext cx="20116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B3C6F"/>
                </a:solidFill>
                <a:latin typeface="Arial"/>
              </a:rPr>
              <a:t>33.1 TWh</a:t>
            </a:r>
          </a:p>
          <a:p>
            <a:pPr algn="ctr"/>
            <a:r>
              <a:rPr sz="1100" b="0">
                <a:solidFill>
                  <a:srgbClr val="5B6470"/>
                </a:solidFill>
                <a:latin typeface="Arial"/>
              </a:rPr>
              <a:t>total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5824728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B6470"/>
                </a:solidFill>
                <a:latin typeface="Arial"/>
              </a:rPr>
              <a:t>Non-fossil: 85%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2139696"/>
            <a:ext cx="201168" cy="201168"/>
          </a:xfrm>
          <a:prstGeom prst="rect">
            <a:avLst/>
          </a:prstGeom>
          <a:solidFill>
            <a:srgbClr val="ED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12680" y="210312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Solar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92640" y="2523744"/>
            <a:ext cx="201168" cy="201168"/>
          </a:xfrm>
          <a:prstGeom prst="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12680" y="2487168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Wind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92640" y="2907792"/>
            <a:ext cx="201168" cy="20116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12680" y="2871216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Hydro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0" y="3291840"/>
            <a:ext cx="201168" cy="201168"/>
          </a:xfrm>
          <a:prstGeom prst="rect">
            <a:avLst/>
          </a:prstGeom>
          <a:solidFill>
            <a:srgbClr val="008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12680" y="3255264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Biomass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40" y="3675888"/>
            <a:ext cx="201168" cy="201168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12680" y="3639312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Gas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4059936"/>
            <a:ext cx="201168" cy="201168"/>
          </a:xfrm>
          <a:prstGeom prst="rect">
            <a:avLst/>
          </a:prstGeom>
          <a:solidFill>
            <a:srgbClr val="8A8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12680" y="402336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Other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72200"/>
            <a:ext cx="110642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470"/>
                </a:solidFill>
                <a:latin typeface="Arial"/>
              </a:rPr>
              <a:t>Source: ENTSO-E Transparency Platform, actual generation per production type. January–August of each year. Excludes pumped storage and other storage, and generation not metered by the transmission operator (mainly rooftop solar). Non-fossil = renewables and nuclear. Labels shown for shares of 5% or more.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B3C6F"/>
                </a:solidFill>
                <a:latin typeface="Arial"/>
              </a:rPr>
              <a:t>Bulgaria: electricity generation mix, January–August 2021 and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B3C6F"/>
                </a:solidFill>
                <a:latin typeface="Arial"/>
              </a:rPr>
              <a:t>2021 (Jan–Aug)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783080"/>
          <a:ext cx="393192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783079" y="3364991"/>
            <a:ext cx="20116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B3C6F"/>
                </a:solidFill>
                <a:latin typeface="Arial"/>
              </a:rPr>
              <a:t>29.3 TWh</a:t>
            </a:r>
          </a:p>
          <a:p>
            <a:pPr algn="ctr"/>
            <a:r>
              <a:rPr sz="1100" b="0">
                <a:solidFill>
                  <a:srgbClr val="5B6470"/>
                </a:solidFill>
                <a:latin typeface="Arial"/>
              </a:rPr>
              <a:t>total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24728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B6470"/>
                </a:solidFill>
                <a:latin typeface="Arial"/>
              </a:rPr>
              <a:t>Non-fossil: 58%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23444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B3C6F"/>
                </a:solidFill>
                <a:latin typeface="Arial"/>
              </a:rPr>
              <a:t>2026 (Jan–Aug)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120640" y="1783080"/>
          <a:ext cx="3931920" cy="3931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80759" y="3364991"/>
            <a:ext cx="20116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B3C6F"/>
                </a:solidFill>
                <a:latin typeface="Arial"/>
              </a:rPr>
              <a:t>26.6 TWh</a:t>
            </a:r>
          </a:p>
          <a:p>
            <a:pPr algn="ctr"/>
            <a:r>
              <a:rPr sz="1100" b="0">
                <a:solidFill>
                  <a:srgbClr val="5B6470"/>
                </a:solidFill>
                <a:latin typeface="Arial"/>
              </a:rPr>
              <a:t>total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5824728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B6470"/>
                </a:solidFill>
                <a:latin typeface="Arial"/>
              </a:rPr>
              <a:t>Non-fossil: 75%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2139696"/>
            <a:ext cx="201168" cy="201168"/>
          </a:xfrm>
          <a:prstGeom prst="rect">
            <a:avLst/>
          </a:prstGeom>
          <a:solidFill>
            <a:srgbClr val="ED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12680" y="210312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Solar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92640" y="2523744"/>
            <a:ext cx="201168" cy="201168"/>
          </a:xfrm>
          <a:prstGeom prst="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12680" y="2487168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Wind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92640" y="2907792"/>
            <a:ext cx="201168" cy="20116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12680" y="2871216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Hydro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0" y="3291840"/>
            <a:ext cx="201168" cy="201168"/>
          </a:xfrm>
          <a:prstGeom prst="rect">
            <a:avLst/>
          </a:prstGeom>
          <a:solidFill>
            <a:srgbClr val="008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12680" y="3255264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Biomass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40" y="3675888"/>
            <a:ext cx="201168" cy="201168"/>
          </a:xfrm>
          <a:prstGeom prst="rect">
            <a:avLst/>
          </a:prstGeom>
          <a:solidFill>
            <a:srgbClr val="8E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12680" y="3639312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Nuclear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4059936"/>
            <a:ext cx="201168" cy="201168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12680" y="402336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Gas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92640" y="4443984"/>
            <a:ext cx="201168" cy="201168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12680" y="4407408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Coal and lignite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172200"/>
            <a:ext cx="110642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470"/>
                </a:solidFill>
                <a:latin typeface="Arial"/>
              </a:rPr>
              <a:t>Source: ENTSO-E Transparency Platform, actual generation per production type. January–August of each year. Excludes pumped storage and other storage, and generation not metered by the transmission operator (mainly rooftop solar). Non-fossil = renewables and nuclear. Labels shown for shares of 5% or more.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B3C6F"/>
                </a:solidFill>
                <a:latin typeface="Arial"/>
              </a:rPr>
              <a:t>Czechia: electricity generation mix, January–August 2021 and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B3C6F"/>
                </a:solidFill>
                <a:latin typeface="Arial"/>
              </a:rPr>
              <a:t>2021 (Jan–Aug)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783080"/>
          <a:ext cx="393192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783079" y="3364991"/>
            <a:ext cx="20116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B3C6F"/>
                </a:solidFill>
                <a:latin typeface="Arial"/>
              </a:rPr>
              <a:t>49.5 TWh</a:t>
            </a:r>
          </a:p>
          <a:p>
            <a:pPr algn="ctr"/>
            <a:r>
              <a:rPr sz="1100" b="0">
                <a:solidFill>
                  <a:srgbClr val="5B6470"/>
                </a:solidFill>
                <a:latin typeface="Arial"/>
              </a:rPr>
              <a:t>total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24728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B6470"/>
                </a:solidFill>
                <a:latin typeface="Arial"/>
              </a:rPr>
              <a:t>Non-fossil: 51%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23444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B3C6F"/>
                </a:solidFill>
                <a:latin typeface="Arial"/>
              </a:rPr>
              <a:t>2026 (Jan–Aug)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120640" y="1783080"/>
          <a:ext cx="3931920" cy="3931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80759" y="3364991"/>
            <a:ext cx="20116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B3C6F"/>
                </a:solidFill>
                <a:latin typeface="Arial"/>
              </a:rPr>
              <a:t>48.1 TWh</a:t>
            </a:r>
          </a:p>
          <a:p>
            <a:pPr algn="ctr"/>
            <a:r>
              <a:rPr sz="1100" b="0">
                <a:solidFill>
                  <a:srgbClr val="5B6470"/>
                </a:solidFill>
                <a:latin typeface="Arial"/>
              </a:rPr>
              <a:t>total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5824728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B6470"/>
                </a:solidFill>
                <a:latin typeface="Arial"/>
              </a:rPr>
              <a:t>Non-fossil: 59%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2139696"/>
            <a:ext cx="201168" cy="201168"/>
          </a:xfrm>
          <a:prstGeom prst="rect">
            <a:avLst/>
          </a:prstGeom>
          <a:solidFill>
            <a:srgbClr val="ED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12680" y="210312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Solar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92640" y="2523744"/>
            <a:ext cx="201168" cy="201168"/>
          </a:xfrm>
          <a:prstGeom prst="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12680" y="2487168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Wind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92640" y="2907792"/>
            <a:ext cx="201168" cy="20116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12680" y="2871216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Hydro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0" y="3291840"/>
            <a:ext cx="201168" cy="201168"/>
          </a:xfrm>
          <a:prstGeom prst="rect">
            <a:avLst/>
          </a:prstGeom>
          <a:solidFill>
            <a:srgbClr val="008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12680" y="3255264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Biomass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40" y="3675888"/>
            <a:ext cx="201168" cy="201168"/>
          </a:xfrm>
          <a:prstGeom prst="rect">
            <a:avLst/>
          </a:prstGeom>
          <a:solidFill>
            <a:srgbClr val="7FB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12680" y="3639312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Other renewables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4059936"/>
            <a:ext cx="201168" cy="201168"/>
          </a:xfrm>
          <a:prstGeom prst="rect">
            <a:avLst/>
          </a:prstGeom>
          <a:solidFill>
            <a:srgbClr val="8E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12680" y="402336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Nuclear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92640" y="4443984"/>
            <a:ext cx="201168" cy="201168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12680" y="4407408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Gas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92640" y="4828032"/>
            <a:ext cx="201168" cy="201168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4791456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Coal and lignite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2640" y="5212080"/>
            <a:ext cx="201168" cy="201168"/>
          </a:xfrm>
          <a:prstGeom prst="rect">
            <a:avLst/>
          </a:prstGeom>
          <a:solidFill>
            <a:srgbClr val="8A8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12680" y="5175504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Other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72200"/>
            <a:ext cx="110642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470"/>
                </a:solidFill>
                <a:latin typeface="Arial"/>
              </a:rPr>
              <a:t>Source: ENTSO-E Transparency Platform, actual generation per production type. January–August of each year. Excludes pumped storage and other storage, and generation not metered by the transmission operator (mainly rooftop solar). Non-fossil = renewables and nuclear. Labels shown for shares of 5% or more.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B3C6F"/>
                </a:solidFill>
                <a:latin typeface="Arial"/>
              </a:rPr>
              <a:t>Germany: electricity generation mix, January–August 2021 and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B3C6F"/>
                </a:solidFill>
                <a:latin typeface="Arial"/>
              </a:rPr>
              <a:t>2021 (Jan–Aug)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783080"/>
          <a:ext cx="393192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783079" y="3364991"/>
            <a:ext cx="20116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B3C6F"/>
                </a:solidFill>
                <a:latin typeface="Arial"/>
              </a:rPr>
              <a:t>327.8 TWh</a:t>
            </a:r>
          </a:p>
          <a:p>
            <a:pPr algn="ctr"/>
            <a:r>
              <a:rPr sz="1100" b="0">
                <a:solidFill>
                  <a:srgbClr val="5B6470"/>
                </a:solidFill>
                <a:latin typeface="Arial"/>
              </a:rPr>
              <a:t>total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24728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B6470"/>
                </a:solidFill>
                <a:latin typeface="Arial"/>
              </a:rPr>
              <a:t>Non-fossil: 58%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23444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B3C6F"/>
                </a:solidFill>
                <a:latin typeface="Arial"/>
              </a:rPr>
              <a:t>2026 (Jan–Aug)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120640" y="1783080"/>
          <a:ext cx="3931920" cy="3931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80759" y="3364991"/>
            <a:ext cx="20116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B3C6F"/>
                </a:solidFill>
                <a:latin typeface="Arial"/>
              </a:rPr>
              <a:t>298.2 TWh</a:t>
            </a:r>
          </a:p>
          <a:p>
            <a:pPr algn="ctr"/>
            <a:r>
              <a:rPr sz="1100" b="0">
                <a:solidFill>
                  <a:srgbClr val="5B6470"/>
                </a:solidFill>
                <a:latin typeface="Arial"/>
              </a:rPr>
              <a:t>total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5824728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B6470"/>
                </a:solidFill>
                <a:latin typeface="Arial"/>
              </a:rPr>
              <a:t>Non-fossil: 63%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2139696"/>
            <a:ext cx="201168" cy="201168"/>
          </a:xfrm>
          <a:prstGeom prst="rect">
            <a:avLst/>
          </a:prstGeom>
          <a:solidFill>
            <a:srgbClr val="ED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12680" y="210312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Solar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92640" y="2523744"/>
            <a:ext cx="201168" cy="201168"/>
          </a:xfrm>
          <a:prstGeom prst="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12680" y="2487168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Wind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92640" y="2907792"/>
            <a:ext cx="201168" cy="20116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12680" y="2871216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Hydro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0" y="3291840"/>
            <a:ext cx="201168" cy="201168"/>
          </a:xfrm>
          <a:prstGeom prst="rect">
            <a:avLst/>
          </a:prstGeom>
          <a:solidFill>
            <a:srgbClr val="008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12680" y="3255264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Biomass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40" y="3675888"/>
            <a:ext cx="201168" cy="201168"/>
          </a:xfrm>
          <a:prstGeom prst="rect">
            <a:avLst/>
          </a:prstGeom>
          <a:solidFill>
            <a:srgbClr val="7FB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12680" y="3639312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Other renewables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4059936"/>
            <a:ext cx="201168" cy="201168"/>
          </a:xfrm>
          <a:prstGeom prst="rect">
            <a:avLst/>
          </a:prstGeom>
          <a:solidFill>
            <a:srgbClr val="8E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12680" y="402336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Nuclear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92640" y="4443984"/>
            <a:ext cx="201168" cy="201168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12680" y="4407408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Gas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92640" y="4828032"/>
            <a:ext cx="201168" cy="201168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4791456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Coal and lignite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2640" y="5212080"/>
            <a:ext cx="201168" cy="201168"/>
          </a:xfrm>
          <a:prstGeom prst="rect">
            <a:avLst/>
          </a:prstGeom>
          <a:solidFill>
            <a:srgbClr val="7A4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12680" y="5175504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Oil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92640" y="5596128"/>
            <a:ext cx="201168" cy="201168"/>
          </a:xfrm>
          <a:prstGeom prst="rect">
            <a:avLst/>
          </a:prstGeom>
          <a:solidFill>
            <a:srgbClr val="8A8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12680" y="5559552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Other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172200"/>
            <a:ext cx="110642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470"/>
                </a:solidFill>
                <a:latin typeface="Arial"/>
              </a:rPr>
              <a:t>Source: ENTSO-E Transparency Platform, actual generation per production type. January–August of each year. Excludes pumped storage and other storage, and generation not metered by the transmission operator (mainly rooftop solar). Non-fossil = renewables and nuclear. Labels shown for shares of 5% or more.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B3C6F"/>
                </a:solidFill>
                <a:latin typeface="Arial"/>
              </a:rPr>
              <a:t>Italy: electricity generation mix, January–August 2021 and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B3C6F"/>
                </a:solidFill>
                <a:latin typeface="Arial"/>
              </a:rPr>
              <a:t>2021 (Jan–Aug)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783080"/>
          <a:ext cx="393192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783079" y="3364991"/>
            <a:ext cx="20116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B3C6F"/>
                </a:solidFill>
                <a:latin typeface="Arial"/>
              </a:rPr>
              <a:t>161.6 TWh</a:t>
            </a:r>
          </a:p>
          <a:p>
            <a:pPr algn="ctr"/>
            <a:r>
              <a:rPr sz="1100" b="0">
                <a:solidFill>
                  <a:srgbClr val="5B6470"/>
                </a:solidFill>
                <a:latin typeface="Arial"/>
              </a:rPr>
              <a:t>total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24728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B6470"/>
                </a:solidFill>
                <a:latin typeface="Arial"/>
              </a:rPr>
              <a:t>Non-fossil: 42%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23444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B3C6F"/>
                </a:solidFill>
                <a:latin typeface="Arial"/>
              </a:rPr>
              <a:t>2026 (Jan–Aug)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120640" y="1783080"/>
          <a:ext cx="3931920" cy="3931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80759" y="3364991"/>
            <a:ext cx="20116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B3C6F"/>
                </a:solidFill>
                <a:latin typeface="Arial"/>
              </a:rPr>
              <a:t>151.7 TWh</a:t>
            </a:r>
          </a:p>
          <a:p>
            <a:pPr algn="ctr"/>
            <a:r>
              <a:rPr sz="1100" b="0">
                <a:solidFill>
                  <a:srgbClr val="5B6470"/>
                </a:solidFill>
                <a:latin typeface="Arial"/>
              </a:rPr>
              <a:t>total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5824728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B6470"/>
                </a:solidFill>
                <a:latin typeface="Arial"/>
              </a:rPr>
              <a:t>Non-fossil: 44%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2139696"/>
            <a:ext cx="201168" cy="201168"/>
          </a:xfrm>
          <a:prstGeom prst="rect">
            <a:avLst/>
          </a:prstGeom>
          <a:solidFill>
            <a:srgbClr val="ED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12680" y="210312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Solar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92640" y="2523744"/>
            <a:ext cx="201168" cy="201168"/>
          </a:xfrm>
          <a:prstGeom prst="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12680" y="2487168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Wind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92640" y="2907792"/>
            <a:ext cx="201168" cy="20116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12680" y="2871216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Hydro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0" y="3291840"/>
            <a:ext cx="201168" cy="201168"/>
          </a:xfrm>
          <a:prstGeom prst="rect">
            <a:avLst/>
          </a:prstGeom>
          <a:solidFill>
            <a:srgbClr val="008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12680" y="3255264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Biomass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40" y="3675888"/>
            <a:ext cx="201168" cy="201168"/>
          </a:xfrm>
          <a:prstGeom prst="rect">
            <a:avLst/>
          </a:prstGeom>
          <a:solidFill>
            <a:srgbClr val="7FB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12680" y="3639312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Other renewables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4059936"/>
            <a:ext cx="201168" cy="201168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12680" y="402336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Gas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92640" y="4443984"/>
            <a:ext cx="201168" cy="201168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12680" y="4407408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Coal and lignite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92640" y="4828032"/>
            <a:ext cx="201168" cy="201168"/>
          </a:xfrm>
          <a:prstGeom prst="rect">
            <a:avLst/>
          </a:prstGeom>
          <a:solidFill>
            <a:srgbClr val="7A4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4791456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Oil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2640" y="5212080"/>
            <a:ext cx="201168" cy="201168"/>
          </a:xfrm>
          <a:prstGeom prst="rect">
            <a:avLst/>
          </a:prstGeom>
          <a:solidFill>
            <a:srgbClr val="8A8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12680" y="5175504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Other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72200"/>
            <a:ext cx="110642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470"/>
                </a:solidFill>
                <a:latin typeface="Arial"/>
              </a:rPr>
              <a:t>Source: ENTSO-E Transparency Platform, actual generation per production type. January–August of each year. Excludes pumped storage and other storage, and generation not metered by the transmission operator (mainly rooftop solar). Non-fossil = renewables and nuclear. Labels shown for shares of 5% or more.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B3C6F"/>
                </a:solidFill>
                <a:latin typeface="Arial"/>
              </a:rPr>
              <a:t>Poland: electricity generation mix, January–August 2021 and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B3C6F"/>
                </a:solidFill>
                <a:latin typeface="Arial"/>
              </a:rPr>
              <a:t>2021 (Jan–Aug)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783080"/>
          <a:ext cx="393192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783079" y="3364991"/>
            <a:ext cx="20116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B3C6F"/>
                </a:solidFill>
                <a:latin typeface="Arial"/>
              </a:rPr>
              <a:t>103.1 TWh</a:t>
            </a:r>
          </a:p>
          <a:p>
            <a:pPr algn="ctr"/>
            <a:r>
              <a:rPr sz="1100" b="0">
                <a:solidFill>
                  <a:srgbClr val="5B6470"/>
                </a:solidFill>
                <a:latin typeface="Arial"/>
              </a:rPr>
              <a:t>total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24728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B6470"/>
                </a:solidFill>
                <a:latin typeface="Arial"/>
              </a:rPr>
              <a:t>Non-fossil: 15%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23444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B3C6F"/>
                </a:solidFill>
                <a:latin typeface="Arial"/>
              </a:rPr>
              <a:t>2026 (Jan–Aug)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120640" y="1783080"/>
          <a:ext cx="3931920" cy="3931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80759" y="3364991"/>
            <a:ext cx="20116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B3C6F"/>
                </a:solidFill>
                <a:latin typeface="Arial"/>
              </a:rPr>
              <a:t>110.6 TWh</a:t>
            </a:r>
          </a:p>
          <a:p>
            <a:pPr algn="ctr"/>
            <a:r>
              <a:rPr sz="1100" b="0">
                <a:solidFill>
                  <a:srgbClr val="5B6470"/>
                </a:solidFill>
                <a:latin typeface="Arial"/>
              </a:rPr>
              <a:t>total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5824728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B6470"/>
                </a:solidFill>
                <a:latin typeface="Arial"/>
              </a:rPr>
              <a:t>Non-fossil: 31%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2139696"/>
            <a:ext cx="201168" cy="201168"/>
          </a:xfrm>
          <a:prstGeom prst="rect">
            <a:avLst/>
          </a:prstGeom>
          <a:solidFill>
            <a:srgbClr val="ED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12680" y="210312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Solar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92640" y="2523744"/>
            <a:ext cx="201168" cy="201168"/>
          </a:xfrm>
          <a:prstGeom prst="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12680" y="2487168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Wind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92640" y="2907792"/>
            <a:ext cx="201168" cy="20116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12680" y="2871216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Hydro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0" y="3291840"/>
            <a:ext cx="201168" cy="201168"/>
          </a:xfrm>
          <a:prstGeom prst="rect">
            <a:avLst/>
          </a:prstGeom>
          <a:solidFill>
            <a:srgbClr val="008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12680" y="3255264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Biomass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40" y="3675888"/>
            <a:ext cx="201168" cy="201168"/>
          </a:xfrm>
          <a:prstGeom prst="rect">
            <a:avLst/>
          </a:prstGeom>
          <a:solidFill>
            <a:srgbClr val="7FB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12680" y="3639312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Other renewables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4059936"/>
            <a:ext cx="201168" cy="201168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12680" y="402336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Gas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92640" y="4443984"/>
            <a:ext cx="201168" cy="201168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12680" y="4407408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Coal and lignite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92640" y="4828032"/>
            <a:ext cx="201168" cy="201168"/>
          </a:xfrm>
          <a:prstGeom prst="rect">
            <a:avLst/>
          </a:prstGeom>
          <a:solidFill>
            <a:srgbClr val="7A4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4791456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Oil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2640" y="5212080"/>
            <a:ext cx="201168" cy="201168"/>
          </a:xfrm>
          <a:prstGeom prst="rect">
            <a:avLst/>
          </a:prstGeom>
          <a:solidFill>
            <a:srgbClr val="8A8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12680" y="5175504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Other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72200"/>
            <a:ext cx="110642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470"/>
                </a:solidFill>
                <a:latin typeface="Arial"/>
              </a:rPr>
              <a:t>Source: ENTSO-E Transparency Platform, actual generation per production type. January–August of each year. Excludes pumped storage and other storage, and generation not metered by the transmission operator (mainly rooftop solar). Non-fossil = renewables and nuclear. Labels shown for shares of 5% or more.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B3C6F"/>
                </a:solidFill>
                <a:latin typeface="Arial"/>
              </a:rPr>
              <a:t>Slovakia: electricity generation mix, January–August 2021 and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B3C6F"/>
                </a:solidFill>
                <a:latin typeface="Arial"/>
              </a:rPr>
              <a:t>2021 (Jan–Aug)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783080"/>
          <a:ext cx="393192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783079" y="3364991"/>
            <a:ext cx="20116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B3C6F"/>
                </a:solidFill>
                <a:latin typeface="Arial"/>
              </a:rPr>
              <a:t>19.5 TWh</a:t>
            </a:r>
          </a:p>
          <a:p>
            <a:pPr algn="ctr"/>
            <a:r>
              <a:rPr sz="1100" b="0">
                <a:solidFill>
                  <a:srgbClr val="5B6470"/>
                </a:solidFill>
                <a:latin typeface="Arial"/>
              </a:rPr>
              <a:t>total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24728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B6470"/>
                </a:solidFill>
                <a:latin typeface="Arial"/>
              </a:rPr>
              <a:t>Non-fossil: 76%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23444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B3C6F"/>
                </a:solidFill>
                <a:latin typeface="Arial"/>
              </a:rPr>
              <a:t>2026 (Jan–Aug)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120640" y="1783080"/>
          <a:ext cx="3931920" cy="3931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80759" y="3364991"/>
            <a:ext cx="20116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B3C6F"/>
                </a:solidFill>
                <a:latin typeface="Arial"/>
              </a:rPr>
              <a:t>18.8 TWh</a:t>
            </a:r>
          </a:p>
          <a:p>
            <a:pPr algn="ctr"/>
            <a:r>
              <a:rPr sz="1100" b="0">
                <a:solidFill>
                  <a:srgbClr val="5B6470"/>
                </a:solidFill>
                <a:latin typeface="Arial"/>
              </a:rPr>
              <a:t>total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5824728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B6470"/>
                </a:solidFill>
                <a:latin typeface="Arial"/>
              </a:rPr>
              <a:t>Non-fossil: 86%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2139696"/>
            <a:ext cx="201168" cy="201168"/>
          </a:xfrm>
          <a:prstGeom prst="rect">
            <a:avLst/>
          </a:prstGeom>
          <a:solidFill>
            <a:srgbClr val="ED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12680" y="210312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Solar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92640" y="2523744"/>
            <a:ext cx="201168" cy="20116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12680" y="2487168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Hydro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92640" y="2907792"/>
            <a:ext cx="201168" cy="201168"/>
          </a:xfrm>
          <a:prstGeom prst="rect">
            <a:avLst/>
          </a:prstGeom>
          <a:solidFill>
            <a:srgbClr val="008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12680" y="2871216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Biomass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0" y="3291840"/>
            <a:ext cx="201168" cy="201168"/>
          </a:xfrm>
          <a:prstGeom prst="rect">
            <a:avLst/>
          </a:prstGeom>
          <a:solidFill>
            <a:srgbClr val="7FB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12680" y="3255264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Other renewables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40" y="3675888"/>
            <a:ext cx="201168" cy="201168"/>
          </a:xfrm>
          <a:prstGeom prst="rect">
            <a:avLst/>
          </a:prstGeom>
          <a:solidFill>
            <a:srgbClr val="8E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12680" y="3639312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Nuclear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4059936"/>
            <a:ext cx="201168" cy="201168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12680" y="402336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Gas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92640" y="4443984"/>
            <a:ext cx="201168" cy="201168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12680" y="4407408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Coal and lignite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92640" y="4828032"/>
            <a:ext cx="201168" cy="201168"/>
          </a:xfrm>
          <a:prstGeom prst="rect">
            <a:avLst/>
          </a:prstGeom>
          <a:solidFill>
            <a:srgbClr val="7A4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4791456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Oil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2640" y="5212080"/>
            <a:ext cx="201168" cy="201168"/>
          </a:xfrm>
          <a:prstGeom prst="rect">
            <a:avLst/>
          </a:prstGeom>
          <a:solidFill>
            <a:srgbClr val="8A8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12680" y="5175504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Other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72200"/>
            <a:ext cx="110642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470"/>
                </a:solidFill>
                <a:latin typeface="Arial"/>
              </a:rPr>
              <a:t>Source: ENTSO-E Transparency Platform, actual generation per production type. January–August of each year. Excludes pumped storage and other storage, and generation not metered by the transmission operator (mainly rooftop solar). Non-fossil = renewables and nuclear. Labels shown for shares of 5% or more.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0B3C6F"/>
                </a:solidFill>
                <a:latin typeface="Arial"/>
              </a:rPr>
              <a:t>JANUARY-SEPTEMBER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B3C6F"/>
                </a:solidFill>
                <a:latin typeface="Arial"/>
              </a:rPr>
              <a:t>Austria: electricity generation mix, January–September 2021 and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B3C6F"/>
                </a:solidFill>
                <a:latin typeface="Arial"/>
              </a:rPr>
              <a:t>2021 (Jan–Sep)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783080"/>
          <a:ext cx="393192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783079" y="3364991"/>
            <a:ext cx="20116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B3C6F"/>
                </a:solidFill>
                <a:latin typeface="Arial"/>
              </a:rPr>
              <a:t>39.0 TWh</a:t>
            </a:r>
          </a:p>
          <a:p>
            <a:pPr algn="ctr"/>
            <a:r>
              <a:rPr sz="1100" b="0">
                <a:solidFill>
                  <a:srgbClr val="5B6470"/>
                </a:solidFill>
                <a:latin typeface="Arial"/>
              </a:rPr>
              <a:t>total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24728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B6470"/>
                </a:solidFill>
                <a:latin typeface="Arial"/>
              </a:rPr>
              <a:t>Non-fossil: 85%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23444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B3C6F"/>
                </a:solidFill>
                <a:latin typeface="Arial"/>
              </a:rPr>
              <a:t>2026 (Jan–Sep)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120640" y="1783080"/>
          <a:ext cx="3931920" cy="3931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80759" y="3364991"/>
            <a:ext cx="20116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B3C6F"/>
                </a:solidFill>
                <a:latin typeface="Arial"/>
              </a:rPr>
              <a:t>36.4 TWh</a:t>
            </a:r>
          </a:p>
          <a:p>
            <a:pPr algn="ctr"/>
            <a:r>
              <a:rPr sz="1100" b="0">
                <a:solidFill>
                  <a:srgbClr val="5B6470"/>
                </a:solidFill>
                <a:latin typeface="Arial"/>
              </a:rPr>
              <a:t>total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5824728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B6470"/>
                </a:solidFill>
                <a:latin typeface="Arial"/>
              </a:rPr>
              <a:t>Non-fossil: 86%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2139696"/>
            <a:ext cx="201168" cy="201168"/>
          </a:xfrm>
          <a:prstGeom prst="rect">
            <a:avLst/>
          </a:prstGeom>
          <a:solidFill>
            <a:srgbClr val="ED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12680" y="210312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Solar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92640" y="2523744"/>
            <a:ext cx="201168" cy="201168"/>
          </a:xfrm>
          <a:prstGeom prst="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12680" y="2487168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Wind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92640" y="2907792"/>
            <a:ext cx="201168" cy="20116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12680" y="2871216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Hydro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0" y="3291840"/>
            <a:ext cx="201168" cy="201168"/>
          </a:xfrm>
          <a:prstGeom prst="rect">
            <a:avLst/>
          </a:prstGeom>
          <a:solidFill>
            <a:srgbClr val="008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12680" y="3255264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Biomass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40" y="3675888"/>
            <a:ext cx="201168" cy="201168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12680" y="3639312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Gas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4059936"/>
            <a:ext cx="201168" cy="201168"/>
          </a:xfrm>
          <a:prstGeom prst="rect">
            <a:avLst/>
          </a:prstGeom>
          <a:solidFill>
            <a:srgbClr val="8A8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12680" y="402336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Other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72200"/>
            <a:ext cx="110642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470"/>
                </a:solidFill>
                <a:latin typeface="Arial"/>
              </a:rPr>
              <a:t>Source: ENTSO-E Transparency Platform, actual generation per production type. January–September of each year. Excludes pumped storage and other storage, and generation not metered by the transmission operator (mainly rooftop solar). Non-fossil = renewables and nuclear. Labels shown for shares of 5% or more.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B3C6F"/>
                </a:solidFill>
                <a:latin typeface="Arial"/>
              </a:rPr>
              <a:t>Bulgaria: electricity generation mix, January–September 2021 and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B3C6F"/>
                </a:solidFill>
                <a:latin typeface="Arial"/>
              </a:rPr>
              <a:t>2021 (Jan–Sep)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783080"/>
          <a:ext cx="393192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783079" y="3364991"/>
            <a:ext cx="20116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B3C6F"/>
                </a:solidFill>
                <a:latin typeface="Arial"/>
              </a:rPr>
              <a:t>33.3 TWh</a:t>
            </a:r>
          </a:p>
          <a:p>
            <a:pPr algn="ctr"/>
            <a:r>
              <a:rPr sz="1100" b="0">
                <a:solidFill>
                  <a:srgbClr val="5B6470"/>
                </a:solidFill>
                <a:latin typeface="Arial"/>
              </a:rPr>
              <a:t>total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24728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B6470"/>
                </a:solidFill>
                <a:latin typeface="Arial"/>
              </a:rPr>
              <a:t>Non-fossil: 56%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23444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B3C6F"/>
                </a:solidFill>
                <a:latin typeface="Arial"/>
              </a:rPr>
              <a:t>2026 (Jan–Sep)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120640" y="1783080"/>
          <a:ext cx="3931920" cy="3931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80759" y="3364991"/>
            <a:ext cx="20116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B3C6F"/>
                </a:solidFill>
                <a:latin typeface="Arial"/>
              </a:rPr>
              <a:t>30.0 TWh</a:t>
            </a:r>
          </a:p>
          <a:p>
            <a:pPr algn="ctr"/>
            <a:r>
              <a:rPr sz="1100" b="0">
                <a:solidFill>
                  <a:srgbClr val="5B6470"/>
                </a:solidFill>
                <a:latin typeface="Arial"/>
              </a:rPr>
              <a:t>total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5824728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B6470"/>
                </a:solidFill>
                <a:latin typeface="Arial"/>
              </a:rPr>
              <a:t>Non-fossil: 75%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2139696"/>
            <a:ext cx="201168" cy="201168"/>
          </a:xfrm>
          <a:prstGeom prst="rect">
            <a:avLst/>
          </a:prstGeom>
          <a:solidFill>
            <a:srgbClr val="ED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12680" y="210312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Solar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92640" y="2523744"/>
            <a:ext cx="201168" cy="201168"/>
          </a:xfrm>
          <a:prstGeom prst="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12680" y="2487168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Wind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92640" y="2907792"/>
            <a:ext cx="201168" cy="20116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12680" y="2871216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Hydro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0" y="3291840"/>
            <a:ext cx="201168" cy="201168"/>
          </a:xfrm>
          <a:prstGeom prst="rect">
            <a:avLst/>
          </a:prstGeom>
          <a:solidFill>
            <a:srgbClr val="008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12680" y="3255264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Biomass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40" y="3675888"/>
            <a:ext cx="201168" cy="201168"/>
          </a:xfrm>
          <a:prstGeom prst="rect">
            <a:avLst/>
          </a:prstGeom>
          <a:solidFill>
            <a:srgbClr val="8E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12680" y="3639312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Nuclear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4059936"/>
            <a:ext cx="201168" cy="201168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12680" y="402336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Gas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92640" y="4443984"/>
            <a:ext cx="201168" cy="201168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12680" y="4407408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Coal and lignite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172200"/>
            <a:ext cx="110642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470"/>
                </a:solidFill>
                <a:latin typeface="Arial"/>
              </a:rPr>
              <a:t>Source: ENTSO-E Transparency Platform, actual generation per production type. January–September of each year. Excludes pumped storage and other storage, and generation not metered by the transmission operator (mainly rooftop solar). Non-fossil = renewables and nuclear. Labels shown for shares of 5% or more.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B3C6F"/>
                </a:solidFill>
                <a:latin typeface="Arial"/>
              </a:rPr>
              <a:t>Czechia: electricity generation mix, January–September 2021 and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B3C6F"/>
                </a:solidFill>
                <a:latin typeface="Arial"/>
              </a:rPr>
              <a:t>2021 (Jan–Sep)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783080"/>
          <a:ext cx="393192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783079" y="3364991"/>
            <a:ext cx="20116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B3C6F"/>
                </a:solidFill>
                <a:latin typeface="Arial"/>
              </a:rPr>
              <a:t>55.7 TWh</a:t>
            </a:r>
          </a:p>
          <a:p>
            <a:pPr algn="ctr"/>
            <a:r>
              <a:rPr sz="1100" b="0">
                <a:solidFill>
                  <a:srgbClr val="5B6470"/>
                </a:solidFill>
                <a:latin typeface="Arial"/>
              </a:rPr>
              <a:t>total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24728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B6470"/>
                </a:solidFill>
                <a:latin typeface="Arial"/>
              </a:rPr>
              <a:t>Non-fossil: 52%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23444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B3C6F"/>
                </a:solidFill>
                <a:latin typeface="Arial"/>
              </a:rPr>
              <a:t>2026 (Jan–Sep)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120640" y="1783080"/>
          <a:ext cx="3931920" cy="3931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80759" y="3364991"/>
            <a:ext cx="20116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B3C6F"/>
                </a:solidFill>
                <a:latin typeface="Arial"/>
              </a:rPr>
              <a:t>54.2 TWh</a:t>
            </a:r>
          </a:p>
          <a:p>
            <a:pPr algn="ctr"/>
            <a:r>
              <a:rPr sz="1100" b="0">
                <a:solidFill>
                  <a:srgbClr val="5B6470"/>
                </a:solidFill>
                <a:latin typeface="Arial"/>
              </a:rPr>
              <a:t>total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5824728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B6470"/>
                </a:solidFill>
                <a:latin typeface="Arial"/>
              </a:rPr>
              <a:t>Non-fossil: 59%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2139696"/>
            <a:ext cx="201168" cy="201168"/>
          </a:xfrm>
          <a:prstGeom prst="rect">
            <a:avLst/>
          </a:prstGeom>
          <a:solidFill>
            <a:srgbClr val="ED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12680" y="210312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Solar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92640" y="2523744"/>
            <a:ext cx="201168" cy="201168"/>
          </a:xfrm>
          <a:prstGeom prst="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12680" y="2487168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Wind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92640" y="2907792"/>
            <a:ext cx="201168" cy="20116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12680" y="2871216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Hydro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0" y="3291840"/>
            <a:ext cx="201168" cy="201168"/>
          </a:xfrm>
          <a:prstGeom prst="rect">
            <a:avLst/>
          </a:prstGeom>
          <a:solidFill>
            <a:srgbClr val="008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12680" y="3255264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Biomass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40" y="3675888"/>
            <a:ext cx="201168" cy="201168"/>
          </a:xfrm>
          <a:prstGeom prst="rect">
            <a:avLst/>
          </a:prstGeom>
          <a:solidFill>
            <a:srgbClr val="7FB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12680" y="3639312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Other renewables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4059936"/>
            <a:ext cx="201168" cy="201168"/>
          </a:xfrm>
          <a:prstGeom prst="rect">
            <a:avLst/>
          </a:prstGeom>
          <a:solidFill>
            <a:srgbClr val="8E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12680" y="402336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Nuclear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92640" y="4443984"/>
            <a:ext cx="201168" cy="201168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12680" y="4407408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Gas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92640" y="4828032"/>
            <a:ext cx="201168" cy="201168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4791456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Coal and lignite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2640" y="5212080"/>
            <a:ext cx="201168" cy="201168"/>
          </a:xfrm>
          <a:prstGeom prst="rect">
            <a:avLst/>
          </a:prstGeom>
          <a:solidFill>
            <a:srgbClr val="8A8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12680" y="5175504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Other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72200"/>
            <a:ext cx="110642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470"/>
                </a:solidFill>
                <a:latin typeface="Arial"/>
              </a:rPr>
              <a:t>Source: ENTSO-E Transparency Platform, actual generation per production type. January–September of each year. Excludes pumped storage and other storage, and generation not metered by the transmission operator (mainly rooftop solar). Non-fossil = renewables and nuclear. Labels shown for shares of 5% or more.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B3C6F"/>
                </a:solidFill>
                <a:latin typeface="Arial"/>
              </a:rPr>
              <a:t>Germany: electricity generation mix, January–September 2021 and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B3C6F"/>
                </a:solidFill>
                <a:latin typeface="Arial"/>
              </a:rPr>
              <a:t>2021 (Jan–Sep)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783080"/>
          <a:ext cx="393192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783079" y="3364991"/>
            <a:ext cx="20116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B3C6F"/>
                </a:solidFill>
                <a:latin typeface="Arial"/>
              </a:rPr>
              <a:t>368.1 TWh</a:t>
            </a:r>
          </a:p>
          <a:p>
            <a:pPr algn="ctr"/>
            <a:r>
              <a:rPr sz="1100" b="0">
                <a:solidFill>
                  <a:srgbClr val="5B6470"/>
                </a:solidFill>
                <a:latin typeface="Arial"/>
              </a:rPr>
              <a:t>total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24728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B6470"/>
                </a:solidFill>
                <a:latin typeface="Arial"/>
              </a:rPr>
              <a:t>Non-fossil: 57%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23444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B3C6F"/>
                </a:solidFill>
                <a:latin typeface="Arial"/>
              </a:rPr>
              <a:t>2026 (Jan–Sep)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120640" y="1783080"/>
          <a:ext cx="3931920" cy="3931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80759" y="3364991"/>
            <a:ext cx="20116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B3C6F"/>
                </a:solidFill>
                <a:latin typeface="Arial"/>
              </a:rPr>
              <a:t>334.8 TWh</a:t>
            </a:r>
          </a:p>
          <a:p>
            <a:pPr algn="ctr"/>
            <a:r>
              <a:rPr sz="1100" b="0">
                <a:solidFill>
                  <a:srgbClr val="5B6470"/>
                </a:solidFill>
                <a:latin typeface="Arial"/>
              </a:rPr>
              <a:t>total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5824728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B6470"/>
                </a:solidFill>
                <a:latin typeface="Arial"/>
              </a:rPr>
              <a:t>Non-fossil: 63%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2139696"/>
            <a:ext cx="201168" cy="201168"/>
          </a:xfrm>
          <a:prstGeom prst="rect">
            <a:avLst/>
          </a:prstGeom>
          <a:solidFill>
            <a:srgbClr val="ED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12680" y="210312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Solar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92640" y="2523744"/>
            <a:ext cx="201168" cy="201168"/>
          </a:xfrm>
          <a:prstGeom prst="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12680" y="2487168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Wind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92640" y="2907792"/>
            <a:ext cx="201168" cy="20116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12680" y="2871216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Hydro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0" y="3291840"/>
            <a:ext cx="201168" cy="201168"/>
          </a:xfrm>
          <a:prstGeom prst="rect">
            <a:avLst/>
          </a:prstGeom>
          <a:solidFill>
            <a:srgbClr val="008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12680" y="3255264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Biomass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40" y="3675888"/>
            <a:ext cx="201168" cy="201168"/>
          </a:xfrm>
          <a:prstGeom prst="rect">
            <a:avLst/>
          </a:prstGeom>
          <a:solidFill>
            <a:srgbClr val="7FB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12680" y="3639312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Other renewables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4059936"/>
            <a:ext cx="201168" cy="201168"/>
          </a:xfrm>
          <a:prstGeom prst="rect">
            <a:avLst/>
          </a:prstGeom>
          <a:solidFill>
            <a:srgbClr val="8E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12680" y="402336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Nuclear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92640" y="4443984"/>
            <a:ext cx="201168" cy="201168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12680" y="4407408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Gas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92640" y="4828032"/>
            <a:ext cx="201168" cy="201168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4791456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Coal and lignite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2640" y="5212080"/>
            <a:ext cx="201168" cy="201168"/>
          </a:xfrm>
          <a:prstGeom prst="rect">
            <a:avLst/>
          </a:prstGeom>
          <a:solidFill>
            <a:srgbClr val="7A4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12680" y="5175504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Oil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92640" y="5596128"/>
            <a:ext cx="201168" cy="201168"/>
          </a:xfrm>
          <a:prstGeom prst="rect">
            <a:avLst/>
          </a:prstGeom>
          <a:solidFill>
            <a:srgbClr val="8A8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12680" y="5559552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Other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172200"/>
            <a:ext cx="110642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470"/>
                </a:solidFill>
                <a:latin typeface="Arial"/>
              </a:rPr>
              <a:t>Source: ENTSO-E Transparency Platform, actual generation per production type. January–September of each year. Excludes pumped storage and other storage, and generation not metered by the transmission operator (mainly rooftop solar). Non-fossil = renewables and nuclear. Labels shown for shares of 5% or more.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B3C6F"/>
                </a:solidFill>
                <a:latin typeface="Arial"/>
              </a:rPr>
              <a:t>Italy: electricity generation mix, January–September 2021 and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B3C6F"/>
                </a:solidFill>
                <a:latin typeface="Arial"/>
              </a:rPr>
              <a:t>2021 (Jan–Sep)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783080"/>
          <a:ext cx="393192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783079" y="3364991"/>
            <a:ext cx="20116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B3C6F"/>
                </a:solidFill>
                <a:latin typeface="Arial"/>
              </a:rPr>
              <a:t>181.9 TWh</a:t>
            </a:r>
          </a:p>
          <a:p>
            <a:pPr algn="ctr"/>
            <a:r>
              <a:rPr sz="1100" b="0">
                <a:solidFill>
                  <a:srgbClr val="5B6470"/>
                </a:solidFill>
                <a:latin typeface="Arial"/>
              </a:rPr>
              <a:t>total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24728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B6470"/>
                </a:solidFill>
                <a:latin typeface="Arial"/>
              </a:rPr>
              <a:t>Non-fossil: 40%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23444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B3C6F"/>
                </a:solidFill>
                <a:latin typeface="Arial"/>
              </a:rPr>
              <a:t>2026 (Jan–Sep)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120640" y="1783080"/>
          <a:ext cx="3931920" cy="3931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80759" y="3364991"/>
            <a:ext cx="20116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B3C6F"/>
                </a:solidFill>
                <a:latin typeface="Arial"/>
              </a:rPr>
              <a:t>171.2 TWh</a:t>
            </a:r>
          </a:p>
          <a:p>
            <a:pPr algn="ctr"/>
            <a:r>
              <a:rPr sz="1100" b="0">
                <a:solidFill>
                  <a:srgbClr val="5B6470"/>
                </a:solidFill>
                <a:latin typeface="Arial"/>
              </a:rPr>
              <a:t>total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5824728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B6470"/>
                </a:solidFill>
                <a:latin typeface="Arial"/>
              </a:rPr>
              <a:t>Non-fossil: 43%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2139696"/>
            <a:ext cx="201168" cy="201168"/>
          </a:xfrm>
          <a:prstGeom prst="rect">
            <a:avLst/>
          </a:prstGeom>
          <a:solidFill>
            <a:srgbClr val="ED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12680" y="210312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Solar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92640" y="2523744"/>
            <a:ext cx="201168" cy="201168"/>
          </a:xfrm>
          <a:prstGeom prst="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12680" y="2487168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Wind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92640" y="2907792"/>
            <a:ext cx="201168" cy="20116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12680" y="2871216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Hydro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0" y="3291840"/>
            <a:ext cx="201168" cy="201168"/>
          </a:xfrm>
          <a:prstGeom prst="rect">
            <a:avLst/>
          </a:prstGeom>
          <a:solidFill>
            <a:srgbClr val="008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12680" y="3255264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Biomass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40" y="3675888"/>
            <a:ext cx="201168" cy="201168"/>
          </a:xfrm>
          <a:prstGeom prst="rect">
            <a:avLst/>
          </a:prstGeom>
          <a:solidFill>
            <a:srgbClr val="7FB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12680" y="3639312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Other renewables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4059936"/>
            <a:ext cx="201168" cy="201168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12680" y="402336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Gas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92640" y="4443984"/>
            <a:ext cx="201168" cy="201168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12680" y="4407408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Coal and lignite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92640" y="4828032"/>
            <a:ext cx="201168" cy="201168"/>
          </a:xfrm>
          <a:prstGeom prst="rect">
            <a:avLst/>
          </a:prstGeom>
          <a:solidFill>
            <a:srgbClr val="7A4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4791456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Oil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2640" y="5212080"/>
            <a:ext cx="201168" cy="201168"/>
          </a:xfrm>
          <a:prstGeom prst="rect">
            <a:avLst/>
          </a:prstGeom>
          <a:solidFill>
            <a:srgbClr val="8A8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12680" y="5175504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Other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72200"/>
            <a:ext cx="110642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470"/>
                </a:solidFill>
                <a:latin typeface="Arial"/>
              </a:rPr>
              <a:t>Source: ENTSO-E Transparency Platform, actual generation per production type. January–September of each year. Excludes pumped storage and other storage, and generation not metered by the transmission operator (mainly rooftop solar). Non-fossil = renewables and nuclear. Labels shown for shares of 5% or more.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B3C6F"/>
                </a:solidFill>
                <a:latin typeface="Arial"/>
              </a:rPr>
              <a:t>Poland: electricity generation mix, January–September 2021 and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B3C6F"/>
                </a:solidFill>
                <a:latin typeface="Arial"/>
              </a:rPr>
              <a:t>2021 (Jan–Sep)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783080"/>
          <a:ext cx="393192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783079" y="3364991"/>
            <a:ext cx="20116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B3C6F"/>
                </a:solidFill>
                <a:latin typeface="Arial"/>
              </a:rPr>
              <a:t>116.8 TWh</a:t>
            </a:r>
          </a:p>
          <a:p>
            <a:pPr algn="ctr"/>
            <a:r>
              <a:rPr sz="1100" b="0">
                <a:solidFill>
                  <a:srgbClr val="5B6470"/>
                </a:solidFill>
                <a:latin typeface="Arial"/>
              </a:rPr>
              <a:t>total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24728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B6470"/>
                </a:solidFill>
                <a:latin typeface="Arial"/>
              </a:rPr>
              <a:t>Non-fossil: 14%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23444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B3C6F"/>
                </a:solidFill>
                <a:latin typeface="Arial"/>
              </a:rPr>
              <a:t>2026 (Jan–Sep)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120640" y="1783080"/>
          <a:ext cx="3931920" cy="3931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80759" y="3364991"/>
            <a:ext cx="20116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B3C6F"/>
                </a:solidFill>
                <a:latin typeface="Arial"/>
              </a:rPr>
              <a:t>123.6 TWh</a:t>
            </a:r>
          </a:p>
          <a:p>
            <a:pPr algn="ctr"/>
            <a:r>
              <a:rPr sz="1100" b="0">
                <a:solidFill>
                  <a:srgbClr val="5B6470"/>
                </a:solidFill>
                <a:latin typeface="Arial"/>
              </a:rPr>
              <a:t>total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5824728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B6470"/>
                </a:solidFill>
                <a:latin typeface="Arial"/>
              </a:rPr>
              <a:t>Non-fossil: 31%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2139696"/>
            <a:ext cx="201168" cy="201168"/>
          </a:xfrm>
          <a:prstGeom prst="rect">
            <a:avLst/>
          </a:prstGeom>
          <a:solidFill>
            <a:srgbClr val="ED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12680" y="210312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Solar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92640" y="2523744"/>
            <a:ext cx="201168" cy="201168"/>
          </a:xfrm>
          <a:prstGeom prst="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12680" y="2487168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Wind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92640" y="2907792"/>
            <a:ext cx="201168" cy="20116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12680" y="2871216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Hydro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0" y="3291840"/>
            <a:ext cx="201168" cy="201168"/>
          </a:xfrm>
          <a:prstGeom prst="rect">
            <a:avLst/>
          </a:prstGeom>
          <a:solidFill>
            <a:srgbClr val="008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12680" y="3255264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Biomass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40" y="3675888"/>
            <a:ext cx="201168" cy="201168"/>
          </a:xfrm>
          <a:prstGeom prst="rect">
            <a:avLst/>
          </a:prstGeom>
          <a:solidFill>
            <a:srgbClr val="7FB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12680" y="3639312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Other renewables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4059936"/>
            <a:ext cx="201168" cy="201168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12680" y="402336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Gas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92640" y="4443984"/>
            <a:ext cx="201168" cy="201168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12680" y="4407408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Coal and lignite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92640" y="4828032"/>
            <a:ext cx="201168" cy="201168"/>
          </a:xfrm>
          <a:prstGeom prst="rect">
            <a:avLst/>
          </a:prstGeom>
          <a:solidFill>
            <a:srgbClr val="7A4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4791456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Oil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2640" y="5212080"/>
            <a:ext cx="201168" cy="201168"/>
          </a:xfrm>
          <a:prstGeom prst="rect">
            <a:avLst/>
          </a:prstGeom>
          <a:solidFill>
            <a:srgbClr val="8A8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12680" y="5175504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Other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72200"/>
            <a:ext cx="110642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470"/>
                </a:solidFill>
                <a:latin typeface="Arial"/>
              </a:rPr>
              <a:t>Source: ENTSO-E Transparency Platform, actual generation per production type. January–September of each year. Excludes pumped storage and other storage, and generation not metered by the transmission operator (mainly rooftop solar). Non-fossil = renewables and nuclear. Labels shown for shares of 5% or more.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B3C6F"/>
                </a:solidFill>
                <a:latin typeface="Arial"/>
              </a:rPr>
              <a:t>Slovakia: electricity generation mix, January–September 2021 and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B3C6F"/>
                </a:solidFill>
                <a:latin typeface="Arial"/>
              </a:rPr>
              <a:t>2021 (Jan–Sep)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783080"/>
          <a:ext cx="393192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783079" y="3364991"/>
            <a:ext cx="20116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B3C6F"/>
                </a:solidFill>
                <a:latin typeface="Arial"/>
              </a:rPr>
              <a:t>21.7 TWh</a:t>
            </a:r>
          </a:p>
          <a:p>
            <a:pPr algn="ctr"/>
            <a:r>
              <a:rPr sz="1100" b="0">
                <a:solidFill>
                  <a:srgbClr val="5B6470"/>
                </a:solidFill>
                <a:latin typeface="Arial"/>
              </a:rPr>
              <a:t>total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24728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B6470"/>
                </a:solidFill>
                <a:latin typeface="Arial"/>
              </a:rPr>
              <a:t>Non-fossil: 76%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234440"/>
            <a:ext cx="3931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B3C6F"/>
                </a:solidFill>
                <a:latin typeface="Arial"/>
              </a:rPr>
              <a:t>2026 (Jan–Sep)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120640" y="1783080"/>
          <a:ext cx="3931920" cy="3931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80759" y="3364991"/>
            <a:ext cx="20116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B3C6F"/>
                </a:solidFill>
                <a:latin typeface="Arial"/>
              </a:rPr>
              <a:t>20.8 TWh</a:t>
            </a:r>
          </a:p>
          <a:p>
            <a:pPr algn="ctr"/>
            <a:r>
              <a:rPr sz="1100" b="0">
                <a:solidFill>
                  <a:srgbClr val="5B6470"/>
                </a:solidFill>
                <a:latin typeface="Arial"/>
              </a:rPr>
              <a:t>total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5824728"/>
            <a:ext cx="3931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B6470"/>
                </a:solidFill>
                <a:latin typeface="Arial"/>
              </a:rPr>
              <a:t>Non-fossil: 86%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2139696"/>
            <a:ext cx="201168" cy="201168"/>
          </a:xfrm>
          <a:prstGeom prst="rect">
            <a:avLst/>
          </a:prstGeom>
          <a:solidFill>
            <a:srgbClr val="ED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12680" y="210312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Solar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92640" y="2523744"/>
            <a:ext cx="201168" cy="20116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12680" y="2487168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Hydro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92640" y="2907792"/>
            <a:ext cx="201168" cy="201168"/>
          </a:xfrm>
          <a:prstGeom prst="rect">
            <a:avLst/>
          </a:prstGeom>
          <a:solidFill>
            <a:srgbClr val="008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12680" y="2871216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Biomass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0" y="3291840"/>
            <a:ext cx="201168" cy="201168"/>
          </a:xfrm>
          <a:prstGeom prst="rect">
            <a:avLst/>
          </a:prstGeom>
          <a:solidFill>
            <a:srgbClr val="7FB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12680" y="3255264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Other renewables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40" y="3675888"/>
            <a:ext cx="201168" cy="201168"/>
          </a:xfrm>
          <a:prstGeom prst="rect">
            <a:avLst/>
          </a:prstGeom>
          <a:solidFill>
            <a:srgbClr val="8E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12680" y="3639312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Nuclear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4059936"/>
            <a:ext cx="201168" cy="201168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12680" y="402336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Gas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92640" y="4443984"/>
            <a:ext cx="201168" cy="201168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12680" y="4407408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Coal and lignite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92640" y="4828032"/>
            <a:ext cx="201168" cy="201168"/>
          </a:xfrm>
          <a:prstGeom prst="rect">
            <a:avLst/>
          </a:prstGeom>
          <a:solidFill>
            <a:srgbClr val="7A4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4791456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Oil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2640" y="5212080"/>
            <a:ext cx="201168" cy="201168"/>
          </a:xfrm>
          <a:prstGeom prst="rect">
            <a:avLst/>
          </a:prstGeom>
          <a:solidFill>
            <a:srgbClr val="8A8F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12680" y="5175504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rial"/>
              </a:rPr>
              <a:t>Other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72200"/>
            <a:ext cx="110642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470"/>
                </a:solidFill>
                <a:latin typeface="Arial"/>
              </a:rPr>
              <a:t>Source: ENTSO-E Transparency Platform, actual generation per production type. January–September of each year. Excludes pumped storage and other storage, and generation not metered by the transmission operator (mainly rooftop solar). Non-fossil = renewables and nuclear. Labels shown for shares of 5% or more.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